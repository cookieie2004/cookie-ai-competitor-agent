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74" r:id="rId3"/>
    <p:sldId id="260" r:id="rId4"/>
    <p:sldId id="259" r:id="rId5"/>
    <p:sldId id="261" r:id="rId6"/>
    <p:sldId id="278" r:id="rId7"/>
    <p:sldId id="266" r:id="rId8"/>
    <p:sldId id="262" r:id="rId9"/>
    <p:sldId id="263" r:id="rId10"/>
    <p:sldId id="276" r:id="rId11"/>
    <p:sldId id="267" r:id="rId12"/>
    <p:sldId id="279" r:id="rId13"/>
    <p:sldId id="280" r:id="rId14"/>
    <p:sldId id="273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F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55"/>
    <p:restoredTop sz="92617"/>
  </p:normalViewPr>
  <p:slideViewPr>
    <p:cSldViewPr snapToGrid="0">
      <p:cViewPr varScale="1">
        <p:scale>
          <a:sx n="114" d="100"/>
          <a:sy n="114" d="100"/>
        </p:scale>
        <p:origin x="17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开场先把项目定位说清楚：青野</a:t>
            </a:r>
            <a:r>
              <a:rPr dirty="0"/>
              <a:t> Verda </a:t>
            </a:r>
            <a:r>
              <a:rPr dirty="0" err="1"/>
              <a:t>是一个</a:t>
            </a:r>
            <a:r>
              <a:rPr dirty="0"/>
              <a:t> AI </a:t>
            </a:r>
            <a:r>
              <a:rPr dirty="0" err="1"/>
              <a:t>竞品情报工作台，不是一次性报告生成器。最终版的主线是：调研前确认对象和视角，调研中展示</a:t>
            </a:r>
            <a:r>
              <a:rPr dirty="0"/>
              <a:t> Agent </a:t>
            </a:r>
            <a:r>
              <a:rPr dirty="0" err="1"/>
              <a:t>执行过程，调研后让每条结论都能回到证据来源，并沉淀成可复用的情报资产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Verda </a:t>
            </a:r>
            <a:r>
              <a:rPr dirty="0" err="1"/>
              <a:t>的价值不在于一次性生成文字，而在于把调研从输入到证据再到报告沉淀成一条完整链路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这一页讲调研深度。快速模式适合先定方向，深度模式适合答辩和正式汇报，专家级模式用于更完整的战略推演。三档模式会影响搜索角度、抓取数量、章节数量和模型策略。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这一页讲产品入口。最终版不是让用户一句话直接进入长流程，而是先确认调研对象、候选竞品和报告视角。这样同一批证据可以服务不同角色：产品经理看迭代启示，销售看竞品话术，投资人看壁垒和风险。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这一页校准专家体系。最终版不是笼统三类角色，而是 3 位 L3 决策层、9 位 L2 策略层、36 位 L1 执行层。L1 又分成 24 位行业专家和 12 位职能专家，所以它既能覆盖赛道知识，也能覆盖采集、事实核查、舆情、评论、财报和知识库等执行任务。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新增的最终报告第二页，讲报告为什么有业务价值。报告页左边是目录和阅读进度，中间是指标、正文、图表和结构化模块，右边是知识库标注和证据来源，底部还有决策回放。重点强调：报告不是静态文档，而是可追溯、可编辑、可复用的工作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这一页讲可信度机制。系统会给证据计算可信度分数，并要求报告结论绑定 evidence_id。没有证据就不强行下结论，采不到评论时也会如实说明。这样评委追问时，我们可以回到来源解释结论。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1898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这一页开始只讲最终成果。Verda 已经跑通从用户提问到报告沉淀的闭环：先澄清输入，再从 48 位专家中动态组队，接着在实时工作台展示 DAG、思维流和证据流，最终生成可追溯报告，并把报告、证据和 Trace 进入情报中心复用。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这一页把后半段的讲法从“散讲功能点”拉回完整流程。先告诉评委：Verda 的一次调研从需求输入开始，经过澄清、专家组队、多源取证、报告生成，最后进入竞争情报中心复用。这里不要急着讲技术名词，先让评委理解产品路径。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这一页讲证据覆盖。最终数据库里有 984 条证据，其中 246 条来自知乎、抖音、B站、微博、小红书等社媒平台；同时还有官网、新闻和普通网页来源。重点不是平台名称堆砌，而是这些来源会进入正式证据链，支撑报告结论和舆情章节。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这一页是技术架构图。讲解顺序从上到下：前端页面负责用户动作和展示，FastAPI 负责接口和任务创建，LangGraph DAG 负责任务编排，智谱 GLM、博查搜索和网页抓取负责智能分析与真实取证，SQLite 保存任务、报告、证据、Trace 和订阅。最后再强调 SSE 把节点状态实时推给前端。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AD408-0ADE-CB3E-20CC-5EDFCAC24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45484-D058-D238-E149-03A439DBE0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2564C-C781-685C-8135-72B1E1D79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这一页是技术架构图。讲解顺序从上到下：前端页面负责用户动作和展示，FastAPI 负责接口和任务创建，LangGraph DAG 负责任务编排，智谱 GLM、博查搜索和网页抓取负责智能分析与真实取证，SQLite 保存任务、报告、证据、Trace 和订阅。最后再强调 SSE 把节点状态实时推给前端。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10428-66BF-3396-57F6-8514EEA13E5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48734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CCE51-FD80-1AE9-207D-52AA48A58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28260-4ABF-5609-0934-5B2C11D8E5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2778BB-29A9-6383-FDFF-E73679ED9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这一页是技术架构图。讲解顺序从上到下：前端页面负责用户动作和展示，FastAPI 负责接口和任务创建，LangGraph DAG 负责任务编排，智谱 GLM、博查搜索和网页抓取负责智能分析与真实取证，SQLite 保存任务、报告、证据、Trace 和订阅。最后再强调 SSE 把节点状态实时推给前端。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4BA0D-FEF8-2DE3-008C-293360F354D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0285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057C8-D32D-88F3-33C5-0DFD92839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5D06C-2660-43F5-26EC-7D2036766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261E4-D16C-A662-C414-860057887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结尾时不要再展开新信息，只收束三句话：我们讲清了调研过程，讲清了竞争情报中心，讲清了可信技术架构。Verda 的核心不是生成一篇报告，而是把竞品调研变成可观察、可追溯、可返工、可复用的工程系统。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C5BF2-F953-FADC-390C-CB4AF2C3BCF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3862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bilibili.com/video/BV18oEX6SEmD/" TargetMode="Externa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069BA902-8698-7347-E962-CC1A5E51CB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2"/>
          <a:stretch>
            <a:fillRect/>
          </a:stretch>
        </p:blipFill>
        <p:spPr>
          <a:xfrm>
            <a:off x="0" y="-1"/>
            <a:ext cx="12192001" cy="685800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8FEFA4E1-35D9-6CF1-6D95-8C8245D0D22B}"/>
              </a:ext>
            </a:extLst>
          </p:cNvPr>
          <p:cNvSpPr/>
          <p:nvPr/>
        </p:nvSpPr>
        <p:spPr>
          <a:xfrm>
            <a:off x="0" y="-2"/>
            <a:ext cx="7936992" cy="6966285"/>
          </a:xfrm>
          <a:prstGeom prst="rect">
            <a:avLst/>
          </a:prstGeom>
          <a:gradFill flip="none" rotWithShape="1">
            <a:gsLst>
              <a:gs pos="51000">
                <a:srgbClr val="F5F9F5"/>
              </a:gs>
              <a:gs pos="0">
                <a:srgbClr val="EAF2EB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2950" y="685800"/>
            <a:ext cx="685800" cy="685800"/>
          </a:xfrm>
          <a:prstGeom prst="roundRect">
            <a:avLst>
              <a:gd name="adj" fmla="val 22222"/>
            </a:avLst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B86E595-1393-4F62-A528-0F7D8F3C1EE7}"/>
              </a:ext>
            </a:extLst>
          </p:cNvPr>
          <p:cNvSpPr>
            <a:spLocks noGrp="1"/>
          </p:cNvSpPr>
          <p:nvPr/>
        </p:nvSpPr>
        <p:spPr>
          <a:xfrm>
            <a:off x="742950" y="1733550"/>
            <a:ext cx="495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152"/>
          </a:bodyPr>
          <a:lstStyle/>
          <a:p>
            <a:pPr algn="l">
              <a:defRPr sz="4275" b="1">
                <a:solidFill>
                  <a:srgbClr val="25312A"/>
                </a:solidFill>
                <a:latin typeface="Songti SC"/>
                <a:ea typeface="Songti SC"/>
                <a:cs typeface="Songti SC"/>
              </a:defRPr>
            </a:pPr>
            <a:r>
              <a:rPr sz="4275" b="1">
                <a:solidFill>
                  <a:srgbClr val="25312A"/>
                </a:solidFill>
                <a:latin typeface="Songti SC"/>
                <a:ea typeface="Songti SC"/>
                <a:cs typeface="Songti SC"/>
              </a:rPr>
              <a:t>青野 Verda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A9AF3C-E0B8-48AD-8599-68D632C5E46B}"/>
              </a:ext>
            </a:extLst>
          </p:cNvPr>
          <p:cNvSpPr>
            <a:spLocks noGrp="1"/>
          </p:cNvSpPr>
          <p:nvPr/>
        </p:nvSpPr>
        <p:spPr>
          <a:xfrm>
            <a:off x="762000" y="2495550"/>
            <a:ext cx="5334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9973" lnSpcReduction="10000"/>
          </a:bodyPr>
          <a:lstStyle/>
          <a:p>
            <a:pPr algn="l">
              <a:defRPr sz="232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AI 竞品情报工作台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3F5B34-CCBA-4235-9F70-84515A80BC27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590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8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让每个结论都有出处，让每次调研都活着。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1B994D-74BF-4ED6-AC78-4AA77BFCA48B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青野 Verda · AI 竞品情报工作台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5334D6F-C1B6-F008-78F0-A13739ED4C7B}"/>
              </a:ext>
            </a:extLst>
          </p:cNvPr>
          <p:cNvSpPr>
            <a:spLocks noGrp="1"/>
          </p:cNvSpPr>
          <p:nvPr/>
        </p:nvSpPr>
        <p:spPr>
          <a:xfrm>
            <a:off x="781049" y="4377489"/>
            <a:ext cx="2575761" cy="12994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lnSpcReduction="10000"/>
          </a:bodyPr>
          <a:lstStyle/>
          <a:p>
            <a:pPr>
              <a:defRPr sz="13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50" b="1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团队名称：</a:t>
            </a:r>
            <a:r>
              <a:rPr lang="zh-CN" altLang="en-US" sz="135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混合检索不排队</a:t>
            </a:r>
          </a:p>
          <a:p>
            <a:pPr>
              <a:defRPr sz="13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br>
              <a:rPr lang="en-US" sz="135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</a:br>
            <a:r>
              <a:rPr lang="en-US" sz="1350" b="1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参赛课题</a:t>
            </a:r>
            <a:r>
              <a:rPr lang="zh-CN" altLang="en-US" sz="1350" b="1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35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CIS · AI </a:t>
            </a:r>
            <a:r>
              <a:rPr sz="135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驱动的竞品分析</a:t>
            </a:r>
            <a:r>
              <a:rPr sz="135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 Agent </a:t>
            </a:r>
            <a:r>
              <a:rPr sz="135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协作系统</a:t>
            </a:r>
            <a:br>
              <a:rPr lang="en-US" sz="135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</a:br>
            <a:br>
              <a:rPr lang="en-US" sz="135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</a:br>
            <a:r>
              <a:rPr lang="en-US" sz="1350" b="1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团队成员</a:t>
            </a:r>
            <a:r>
              <a:rPr lang="zh-CN" altLang="en-US" sz="1350" b="1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135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康嘉尧 、严子芊</a:t>
            </a:r>
          </a:p>
          <a:p>
            <a:pPr algn="l">
              <a:defRPr sz="13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endParaRPr sz="1350" b="0" dirty="0">
              <a:solidFill>
                <a:srgbClr val="65705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061011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2162203-C89D-41D1-99B0-3EABBB26695B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9808" lnSpcReduction="10000"/>
          </a:bodyPr>
          <a:lstStyle/>
          <a:p>
            <a:pPr algn="l">
              <a:def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F73F54-4806-4257-8751-C4CF511646B6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723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2925" b="1">
                <a:solidFill>
                  <a:srgbClr val="25312A"/>
                </a:solidFill>
                <a:latin typeface="Songti SC"/>
                <a:ea typeface="Songti SC"/>
                <a:cs typeface="Songti SC"/>
              </a:defRPr>
            </a:pPr>
            <a:r>
              <a:rPr sz="2925" b="1" dirty="0" err="1">
                <a:solidFill>
                  <a:srgbClr val="25312A"/>
                </a:solidFill>
                <a:latin typeface="Songti SC"/>
                <a:ea typeface="Songti SC"/>
                <a:cs typeface="Songti SC"/>
              </a:rPr>
              <a:t>一句话：把竞品调研变成可追溯的工作流</a:t>
            </a:r>
            <a:endParaRPr sz="2925" b="1" dirty="0">
              <a:solidFill>
                <a:srgbClr val="25312A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29E15A-43ED-44EE-9E52-712AAA132EF0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742"/>
          </a:bodyPr>
          <a:lstStyle/>
          <a:p>
            <a:pPr algn="l">
              <a:defRPr sz="15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用户提出问题，系统先确认对象和视角，再组织专家 Agent 采集、分析、写报告和复核。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88C02A-6B00-42A3-999A-9F3C0700B21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895350" cy="28575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CE9B1AB-F94F-41F9-838D-A4BBAA50FC1E}"/>
              </a:ext>
            </a:extLst>
          </p:cNvPr>
          <p:cNvSpPr>
            <a:spLocks noGrp="1"/>
          </p:cNvSpPr>
          <p:nvPr/>
        </p:nvSpPr>
        <p:spPr>
          <a:xfrm>
            <a:off x="781050" y="1962150"/>
            <a:ext cx="1714500" cy="1466850"/>
          </a:xfrm>
          <a:prstGeom prst="roundRect">
            <a:avLst>
              <a:gd name="adj" fmla="val 7792"/>
            </a:avLst>
          </a:prstGeom>
          <a:solidFill>
            <a:srgbClr val="E7EFE2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06F46A3-8802-45F3-A8EE-CFD5032AB0EF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8913" lnSpcReduction="20000"/>
          </a:bodyPr>
          <a:lstStyle/>
          <a:p>
            <a:pPr algn="l">
              <a:defRPr sz="1725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确认问题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B82292-B2A0-4A19-8FEC-371C231B41DB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产品/竞品/视角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CB5926-311C-4990-A455-9182355212F7}"/>
              </a:ext>
            </a:extLst>
          </p:cNvPr>
          <p:cNvSpPr>
            <a:spLocks noGrp="1"/>
          </p:cNvSpPr>
          <p:nvPr/>
        </p:nvSpPr>
        <p:spPr>
          <a:xfrm>
            <a:off x="2476500" y="250763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1848" lnSpcReduction="10000"/>
          </a:bodyPr>
          <a:lstStyle/>
          <a:p>
            <a:pPr algn="l">
              <a:defRPr sz="2250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4999232D-AEE8-4CEB-A7E5-64D19B79BFC7}"/>
              </a:ext>
            </a:extLst>
          </p:cNvPr>
          <p:cNvSpPr>
            <a:spLocks noGrp="1"/>
          </p:cNvSpPr>
          <p:nvPr/>
        </p:nvSpPr>
        <p:spPr>
          <a:xfrm>
            <a:off x="2876550" y="1962150"/>
            <a:ext cx="1714500" cy="1466850"/>
          </a:xfrm>
          <a:prstGeom prst="roundRect">
            <a:avLst>
              <a:gd name="adj" fmla="val 7792"/>
            </a:avLst>
          </a:prstGeom>
          <a:solidFill>
            <a:srgbClr val="F6F8F2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D4857E-AB17-45CF-AAD7-60D24C4C2317}"/>
              </a:ext>
            </a:extLst>
          </p:cNvPr>
          <p:cNvSpPr>
            <a:spLocks noGrp="1"/>
          </p:cNvSpPr>
          <p:nvPr/>
        </p:nvSpPr>
        <p:spPr>
          <a:xfrm>
            <a:off x="3048000" y="22098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8913" lnSpcReduction="20000"/>
          </a:bodyPr>
          <a:lstStyle/>
          <a:p>
            <a:pPr algn="l">
              <a:defRPr sz="1725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组织专家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277AFF-8B91-4DBC-8786-66AD2EAAC95C}"/>
              </a:ext>
            </a:extLst>
          </p:cNvPr>
          <p:cNvSpPr>
            <a:spLocks noGrp="1"/>
          </p:cNvSpPr>
          <p:nvPr/>
        </p:nvSpPr>
        <p:spPr>
          <a:xfrm>
            <a:off x="3048000" y="268605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48 位角色分工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5C0221-2CFC-4522-ABF7-662C15C9AB81}"/>
              </a:ext>
            </a:extLst>
          </p:cNvPr>
          <p:cNvSpPr>
            <a:spLocks noGrp="1"/>
          </p:cNvSpPr>
          <p:nvPr/>
        </p:nvSpPr>
        <p:spPr>
          <a:xfrm>
            <a:off x="4572000" y="250763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1848" lnSpcReduction="10000"/>
          </a:bodyPr>
          <a:lstStyle/>
          <a:p>
            <a:pPr algn="l">
              <a:defRPr sz="2250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79AE3F8C-829A-4D53-A58F-373DA98BDCD5}"/>
              </a:ext>
            </a:extLst>
          </p:cNvPr>
          <p:cNvSpPr>
            <a:spLocks noGrp="1"/>
          </p:cNvSpPr>
          <p:nvPr/>
        </p:nvSpPr>
        <p:spPr>
          <a:xfrm>
            <a:off x="4972050" y="1962150"/>
            <a:ext cx="1714500" cy="1466850"/>
          </a:xfrm>
          <a:prstGeom prst="roundRect">
            <a:avLst>
              <a:gd name="adj" fmla="val 7792"/>
            </a:avLst>
          </a:prstGeom>
          <a:solidFill>
            <a:srgbClr val="E7EFE2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212ACF-BE28-4746-B467-A37587F446A7}"/>
              </a:ext>
            </a:extLst>
          </p:cNvPr>
          <p:cNvSpPr>
            <a:spLocks noGrp="1"/>
          </p:cNvSpPr>
          <p:nvPr/>
        </p:nvSpPr>
        <p:spPr>
          <a:xfrm>
            <a:off x="5143500" y="22098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8913" lnSpcReduction="20000"/>
          </a:bodyPr>
          <a:lstStyle/>
          <a:p>
            <a:pPr algn="l">
              <a:defRPr sz="1725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真实取证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0D6487A-4BBF-441F-A346-0EDF614E18DD}"/>
              </a:ext>
            </a:extLst>
          </p:cNvPr>
          <p:cNvSpPr>
            <a:spLocks noGrp="1"/>
          </p:cNvSpPr>
          <p:nvPr/>
        </p:nvSpPr>
        <p:spPr>
          <a:xfrm>
            <a:off x="5143500" y="268605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网页 + 社媒 + 财报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E9EFD70-F357-400D-8D80-ACDB2AAFD523}"/>
              </a:ext>
            </a:extLst>
          </p:cNvPr>
          <p:cNvSpPr>
            <a:spLocks noGrp="1"/>
          </p:cNvSpPr>
          <p:nvPr/>
        </p:nvSpPr>
        <p:spPr>
          <a:xfrm>
            <a:off x="6667500" y="250763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1848" lnSpcReduction="10000"/>
          </a:bodyPr>
          <a:lstStyle/>
          <a:p>
            <a:pPr algn="l">
              <a:defRPr sz="2250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C0C455E8-D56D-419B-9BCD-1E7FB4C4C264}"/>
              </a:ext>
            </a:extLst>
          </p:cNvPr>
          <p:cNvSpPr>
            <a:spLocks noGrp="1"/>
          </p:cNvSpPr>
          <p:nvPr/>
        </p:nvSpPr>
        <p:spPr>
          <a:xfrm>
            <a:off x="7067550" y="1962150"/>
            <a:ext cx="1714500" cy="1466850"/>
          </a:xfrm>
          <a:prstGeom prst="roundRect">
            <a:avLst>
              <a:gd name="adj" fmla="val 7792"/>
            </a:avLst>
          </a:prstGeom>
          <a:solidFill>
            <a:srgbClr val="F6F8F2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1D52671-133A-461B-8731-6CE9F7921073}"/>
              </a:ext>
            </a:extLst>
          </p:cNvPr>
          <p:cNvSpPr>
            <a:spLocks noGrp="1"/>
          </p:cNvSpPr>
          <p:nvPr/>
        </p:nvSpPr>
        <p:spPr>
          <a:xfrm>
            <a:off x="7239000" y="22098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8913" lnSpcReduction="20000"/>
          </a:bodyPr>
          <a:lstStyle/>
          <a:p>
            <a:pPr algn="l">
              <a:defRPr sz="1725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输出报告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C1FE134-8F72-485F-B9A1-E01169B67C57}"/>
              </a:ext>
            </a:extLst>
          </p:cNvPr>
          <p:cNvSpPr>
            <a:spLocks noGrp="1"/>
          </p:cNvSpPr>
          <p:nvPr/>
        </p:nvSpPr>
        <p:spPr>
          <a:xfrm>
            <a:off x="7239000" y="268605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结论挂证据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BBFE14F-0CCB-423F-AFEB-FEA79029913E}"/>
              </a:ext>
            </a:extLst>
          </p:cNvPr>
          <p:cNvSpPr>
            <a:spLocks noGrp="1"/>
          </p:cNvSpPr>
          <p:nvPr/>
        </p:nvSpPr>
        <p:spPr>
          <a:xfrm>
            <a:off x="8763000" y="250763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1848" lnSpcReduction="10000"/>
          </a:bodyPr>
          <a:lstStyle/>
          <a:p>
            <a:pPr algn="l">
              <a:defRPr sz="2250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46DC62B5-FFF7-4946-A41C-1A91F6DC407D}"/>
              </a:ext>
            </a:extLst>
          </p:cNvPr>
          <p:cNvSpPr>
            <a:spLocks noGrp="1"/>
          </p:cNvSpPr>
          <p:nvPr/>
        </p:nvSpPr>
        <p:spPr>
          <a:xfrm>
            <a:off x="9163050" y="1962150"/>
            <a:ext cx="1714500" cy="1466850"/>
          </a:xfrm>
          <a:prstGeom prst="roundRect">
            <a:avLst>
              <a:gd name="adj" fmla="val 7792"/>
            </a:avLst>
          </a:prstGeom>
          <a:solidFill>
            <a:srgbClr val="E7EFE2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2DB0B5F-EF5B-4888-B6AC-39BF66933967}"/>
              </a:ext>
            </a:extLst>
          </p:cNvPr>
          <p:cNvSpPr>
            <a:spLocks noGrp="1"/>
          </p:cNvSpPr>
          <p:nvPr/>
        </p:nvSpPr>
        <p:spPr>
          <a:xfrm>
            <a:off x="9334500" y="2209800"/>
            <a:ext cx="1371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8913" lnSpcReduction="20000"/>
          </a:bodyPr>
          <a:lstStyle/>
          <a:p>
            <a:pPr algn="l">
              <a:defRPr sz="1725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沉淀资产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F9DEFC5-00B7-4E3F-8178-5C17B7FE5BAC}"/>
              </a:ext>
            </a:extLst>
          </p:cNvPr>
          <p:cNvSpPr>
            <a:spLocks noGrp="1"/>
          </p:cNvSpPr>
          <p:nvPr/>
        </p:nvSpPr>
        <p:spPr>
          <a:xfrm>
            <a:off x="9334500" y="268605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情报中心复用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BF5D3E-9671-4F20-B5F5-03D9BDEB9E8B}"/>
              </a:ext>
            </a:extLst>
          </p:cNvPr>
          <p:cNvSpPr>
            <a:spLocks noGrp="1"/>
          </p:cNvSpPr>
          <p:nvPr/>
        </p:nvSpPr>
        <p:spPr>
          <a:xfrm>
            <a:off x="971550" y="5991225"/>
            <a:ext cx="857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8378"/>
          </a:bodyPr>
          <a:lstStyle/>
          <a:p>
            <a:pPr algn="l">
              <a:defRPr sz="1875" b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核心不是“AI</a:t>
            </a:r>
            <a:r>
              <a:rPr sz="1875" b="0" dirty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75" b="0" dirty="0" err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写一篇文章</a:t>
            </a:r>
            <a:r>
              <a:rPr sz="1875" b="0" dirty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”，</a:t>
            </a:r>
            <a:r>
              <a:rPr sz="1875" b="0" dirty="0" err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而是把竞品调研拆成可检查、可返工、可复用的步骤</a:t>
            </a:r>
            <a:r>
              <a:rPr sz="1875" b="0" dirty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5B010C6-E0F2-4FD6-B1B0-A41FAE2C932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青野 Verda · AI 竞品情报工作台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DA9D55C7-D165-7C71-9379-3A14AD679D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863" y="3609975"/>
            <a:ext cx="2009687" cy="22627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8214B033-EC90-1FA3-60D7-D6F82EEEA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050" y="3590304"/>
            <a:ext cx="3520998" cy="22679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551D9BF0-DAAE-5E34-AAD4-3AF368A7B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8547" y="3590304"/>
            <a:ext cx="4024661" cy="228611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24416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B25AB1-D2E6-4345-B79F-CEF3A425C261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9808" lnSpcReduction="10000"/>
          </a:bodyPr>
          <a:lstStyle/>
          <a:p>
            <a:pPr algn="l">
              <a:def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5843CE-CD60-443D-BCF6-177BEC538C2C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723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2925" b="1">
                <a:solidFill>
                  <a:srgbClr val="25312A"/>
                </a:solidFill>
                <a:latin typeface="Songti SC"/>
                <a:ea typeface="Songti SC"/>
                <a:cs typeface="Songti SC"/>
              </a:defRPr>
            </a:pPr>
            <a:r>
              <a:rPr sz="2925" b="1" dirty="0" err="1">
                <a:solidFill>
                  <a:srgbClr val="25312A"/>
                </a:solidFill>
                <a:latin typeface="Songti SC"/>
                <a:ea typeface="Songti SC"/>
                <a:cs typeface="Songti SC"/>
              </a:rPr>
              <a:t>三档</a:t>
            </a:r>
            <a:r>
              <a:rPr lang="en-US" sz="2925" b="1" dirty="0" err="1">
                <a:solidFill>
                  <a:srgbClr val="25312A"/>
                </a:solidFill>
                <a:latin typeface="Songti SC"/>
                <a:ea typeface="Songti SC"/>
                <a:cs typeface="Songti SC"/>
              </a:rPr>
              <a:t>调研</a:t>
            </a:r>
            <a:r>
              <a:rPr sz="2925" b="1" dirty="0" err="1">
                <a:solidFill>
                  <a:srgbClr val="25312A"/>
                </a:solidFill>
                <a:latin typeface="Songti SC"/>
                <a:ea typeface="Songti SC"/>
                <a:cs typeface="Songti SC"/>
              </a:rPr>
              <a:t>深度</a:t>
            </a:r>
            <a:r>
              <a:rPr lang="zh-CN" altLang="en-US" sz="2925" b="1" dirty="0">
                <a:solidFill>
                  <a:srgbClr val="25312A"/>
                </a:solidFill>
                <a:latin typeface="Songti SC"/>
                <a:ea typeface="Songti SC"/>
                <a:cs typeface="Songti SC"/>
              </a:rPr>
              <a:t>，按需选择</a:t>
            </a:r>
            <a:endParaRPr sz="2925" b="1" dirty="0">
              <a:solidFill>
                <a:srgbClr val="25312A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BF0CA2-6042-40F0-960F-963F8EF96611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5957"/>
          </a:bodyPr>
          <a:lstStyle/>
          <a:p>
            <a:pPr>
              <a:defRPr sz="15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快速</a:t>
            </a:r>
            <a:r>
              <a:rPr lang="zh-CN" altLang="zh-CN" sz="1500" dirty="0"/>
              <a:t>定方向</a:t>
            </a:r>
            <a:r>
              <a:rPr sz="15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深度</a:t>
            </a:r>
            <a:r>
              <a:rPr lang="zh-CN" altLang="zh-CN" sz="1500" dirty="0"/>
              <a:t>做决策</a:t>
            </a:r>
            <a:r>
              <a:rPr sz="15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5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专家级</a:t>
            </a:r>
            <a:r>
              <a:rPr lang="zh-CN" altLang="zh-CN" sz="1500" dirty="0"/>
              <a:t>看终局</a:t>
            </a:r>
            <a:r>
              <a:rPr sz="15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；</a:t>
            </a:r>
            <a:r>
              <a:rPr sz="15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搜索量、章节数和模型策略都会随模式调整</a:t>
            </a:r>
            <a:r>
              <a:rPr sz="15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2B99FF-597D-4CD3-BA36-307A588FD50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895350" cy="28575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7086BA1-EEFB-4324-8555-4E0779F62C75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9620250" cy="781050"/>
          </a:xfrm>
          <a:prstGeom prst="roundRect">
            <a:avLst>
              <a:gd name="adj" fmla="val 14634"/>
            </a:avLst>
          </a:prstGeom>
          <a:solidFill>
            <a:srgbClr val="F6F8F2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E102BA-ECEE-48C6-9EC1-E708D613554A}"/>
              </a:ext>
            </a:extLst>
          </p:cNvPr>
          <p:cNvSpPr>
            <a:spLocks noGrp="1"/>
          </p:cNvSpPr>
          <p:nvPr/>
        </p:nvSpPr>
        <p:spPr>
          <a:xfrm>
            <a:off x="1143000" y="24003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6071" lnSpcReduction="10000"/>
          </a:bodyPr>
          <a:lstStyle/>
          <a:p>
            <a:pPr algn="l">
              <a:defRPr sz="21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快速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A0A633-B2DB-4682-95AD-2CCF1E474D06}"/>
              </a:ext>
            </a:extLst>
          </p:cNvPr>
          <p:cNvSpPr>
            <a:spLocks noGrp="1"/>
          </p:cNvSpPr>
          <p:nvPr/>
        </p:nvSpPr>
        <p:spPr>
          <a:xfrm>
            <a:off x="2781300" y="24384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8452" lnSpcReduction="10000"/>
          </a:bodyPr>
          <a:lstStyle/>
          <a:p>
            <a:pPr algn="l">
              <a:defRPr sz="1575" b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4 个搜索角度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228B68F-BA5E-4D00-93B4-13F6160111A3}"/>
              </a:ext>
            </a:extLst>
          </p:cNvPr>
          <p:cNvSpPr>
            <a:spLocks noGrp="1"/>
          </p:cNvSpPr>
          <p:nvPr/>
        </p:nvSpPr>
        <p:spPr>
          <a:xfrm>
            <a:off x="5219700" y="24384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8452" lnSpcReduction="10000"/>
          </a:bodyPr>
          <a:lstStyle/>
          <a:p>
            <a:pPr algn="l">
              <a:defRPr sz="1575" b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5 章报告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D62475-8D57-4309-9BC9-5F701E059D59}"/>
              </a:ext>
            </a:extLst>
          </p:cNvPr>
          <p:cNvSpPr>
            <a:spLocks noGrp="1"/>
          </p:cNvSpPr>
          <p:nvPr/>
        </p:nvSpPr>
        <p:spPr>
          <a:xfrm>
            <a:off x="7063424" y="24384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0952" lnSpcReduction="10000"/>
          </a:bodyPr>
          <a:lstStyle/>
          <a:p>
            <a:pPr>
              <a:defRPr sz="15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575" dirty="0"/>
              <a:t>锁定赛道风向，快速锚定方向</a:t>
            </a:r>
            <a:endParaRPr sz="1575" b="0" dirty="0">
              <a:solidFill>
                <a:srgbClr val="6570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048C08C8-48B8-4475-8A45-3EA62AE3F282}"/>
              </a:ext>
            </a:extLst>
          </p:cNvPr>
          <p:cNvSpPr>
            <a:spLocks noGrp="1"/>
          </p:cNvSpPr>
          <p:nvPr/>
        </p:nvSpPr>
        <p:spPr>
          <a:xfrm>
            <a:off x="876300" y="3276600"/>
            <a:ext cx="9620250" cy="781050"/>
          </a:xfrm>
          <a:prstGeom prst="roundRect">
            <a:avLst>
              <a:gd name="adj" fmla="val 14634"/>
            </a:avLst>
          </a:prstGeom>
          <a:solidFill>
            <a:srgbClr val="E7EFE2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5876729-E084-4DAC-A052-E244F1728CFB}"/>
              </a:ext>
            </a:extLst>
          </p:cNvPr>
          <p:cNvSpPr>
            <a:spLocks noGrp="1"/>
          </p:cNvSpPr>
          <p:nvPr/>
        </p:nvSpPr>
        <p:spPr>
          <a:xfrm>
            <a:off x="1143000" y="34671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6071" lnSpcReduction="10000"/>
          </a:bodyPr>
          <a:lstStyle/>
          <a:p>
            <a:pPr algn="l">
              <a:defRPr sz="21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深度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EFB0ED-ED24-4C88-BF5A-198717367C38}"/>
              </a:ext>
            </a:extLst>
          </p:cNvPr>
          <p:cNvSpPr>
            <a:spLocks noGrp="1"/>
          </p:cNvSpPr>
          <p:nvPr/>
        </p:nvSpPr>
        <p:spPr>
          <a:xfrm>
            <a:off x="2781300" y="35052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8452" lnSpcReduction="10000"/>
          </a:bodyPr>
          <a:lstStyle/>
          <a:p>
            <a:pPr algn="l">
              <a:defRPr sz="1575" b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6 个搜索角度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5DE884F-C1C3-43FE-9736-C3941484F196}"/>
              </a:ext>
            </a:extLst>
          </p:cNvPr>
          <p:cNvSpPr>
            <a:spLocks noGrp="1"/>
          </p:cNvSpPr>
          <p:nvPr/>
        </p:nvSpPr>
        <p:spPr>
          <a:xfrm>
            <a:off x="5219700" y="35052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8452" lnSpcReduction="10000"/>
          </a:bodyPr>
          <a:lstStyle/>
          <a:p>
            <a:pPr algn="l">
              <a:defRPr sz="1575" b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9 章报告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2FE8A1-49B1-4502-B2A6-2BD3971D72CC}"/>
              </a:ext>
            </a:extLst>
          </p:cNvPr>
          <p:cNvSpPr>
            <a:spLocks noGrp="1"/>
          </p:cNvSpPr>
          <p:nvPr/>
        </p:nvSpPr>
        <p:spPr>
          <a:xfrm>
            <a:off x="7063424" y="3505200"/>
            <a:ext cx="3162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300" dirty="0"/>
              <a:t>拆解战术细节，赋能正式汇报与产品决策</a:t>
            </a:r>
            <a:endParaRPr sz="1300" b="0" dirty="0">
              <a:solidFill>
                <a:srgbClr val="6570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274DD2FD-BD28-448A-B69F-38C0458AC1B0}"/>
              </a:ext>
            </a:extLst>
          </p:cNvPr>
          <p:cNvSpPr>
            <a:spLocks noGrp="1"/>
          </p:cNvSpPr>
          <p:nvPr/>
        </p:nvSpPr>
        <p:spPr>
          <a:xfrm>
            <a:off x="876300" y="4343400"/>
            <a:ext cx="9620250" cy="781050"/>
          </a:xfrm>
          <a:prstGeom prst="roundRect">
            <a:avLst>
              <a:gd name="adj" fmla="val 14634"/>
            </a:avLst>
          </a:prstGeom>
          <a:solidFill>
            <a:srgbClr val="F6F8F2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BC6057-DE10-4BF3-92F8-920CB3BF3958}"/>
              </a:ext>
            </a:extLst>
          </p:cNvPr>
          <p:cNvSpPr>
            <a:spLocks noGrp="1"/>
          </p:cNvSpPr>
          <p:nvPr/>
        </p:nvSpPr>
        <p:spPr>
          <a:xfrm>
            <a:off x="1143000" y="453390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6071" lnSpcReduction="10000"/>
          </a:bodyPr>
          <a:lstStyle/>
          <a:p>
            <a:pPr algn="l">
              <a:defRPr sz="21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专家级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49203CA-C6C0-408B-9A9A-EF364367607F}"/>
              </a:ext>
            </a:extLst>
          </p:cNvPr>
          <p:cNvSpPr>
            <a:spLocks noGrp="1"/>
          </p:cNvSpPr>
          <p:nvPr/>
        </p:nvSpPr>
        <p:spPr>
          <a:xfrm>
            <a:off x="2781300" y="45720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8452" lnSpcReduction="10000"/>
          </a:bodyPr>
          <a:lstStyle/>
          <a:p>
            <a:pPr algn="l">
              <a:defRPr sz="1575" b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9 个搜索角度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566024D-CA74-42DA-8539-258E1A075DBF}"/>
              </a:ext>
            </a:extLst>
          </p:cNvPr>
          <p:cNvSpPr>
            <a:spLocks noGrp="1"/>
          </p:cNvSpPr>
          <p:nvPr/>
        </p:nvSpPr>
        <p:spPr>
          <a:xfrm>
            <a:off x="5219700" y="45720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8452" lnSpcReduction="10000"/>
          </a:bodyPr>
          <a:lstStyle/>
          <a:p>
            <a:pPr algn="l">
              <a:defRPr sz="1575" b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11+ 章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46CA13-4DE5-42C6-B128-82E7B31B9B24}"/>
              </a:ext>
            </a:extLst>
          </p:cNvPr>
          <p:cNvSpPr>
            <a:spLocks noGrp="1"/>
          </p:cNvSpPr>
          <p:nvPr/>
        </p:nvSpPr>
        <p:spPr>
          <a:xfrm>
            <a:off x="7063424" y="4572000"/>
            <a:ext cx="279359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300" dirty="0"/>
              <a:t>穷举多维变量，输出完整战略推演</a:t>
            </a:r>
            <a:endParaRPr sz="1300" b="0" dirty="0">
              <a:solidFill>
                <a:srgbClr val="6570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36E602B-F5E8-4862-8853-F91AAA669431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青野 Verda · AI 竞品情报工作台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31C4B889-538A-C1AA-4D42-CB89CD15EC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94" t="973" r="14743" b="47863"/>
          <a:stretch>
            <a:fillRect/>
          </a:stretch>
        </p:blipFill>
        <p:spPr>
          <a:xfrm>
            <a:off x="8669438" y="171450"/>
            <a:ext cx="3356658" cy="177165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8B898373-86E6-232C-F08E-EC9A8850B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57" t="34007" r="33868" b="51140"/>
          <a:stretch>
            <a:fillRect/>
          </a:stretch>
        </p:blipFill>
        <p:spPr>
          <a:xfrm>
            <a:off x="6200868" y="5205413"/>
            <a:ext cx="5122333" cy="12573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9" name="圆角矩形 28">
            <a:extLst>
              <a:ext uri="{FF2B5EF4-FFF2-40B4-BE49-F238E27FC236}">
                <a16:creationId xmlns:a16="http://schemas.microsoft.com/office/drawing/2014/main" id="{77E54A8E-DA50-11E6-CD3E-2F04D6DA2176}"/>
              </a:ext>
            </a:extLst>
          </p:cNvPr>
          <p:cNvSpPr/>
          <p:nvPr/>
        </p:nvSpPr>
        <p:spPr>
          <a:xfrm>
            <a:off x="8762035" y="1342663"/>
            <a:ext cx="2048719" cy="428987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F47D26E9-6F0E-0145-6EB4-48C56D6C6C1B}"/>
              </a:ext>
            </a:extLst>
          </p:cNvPr>
          <p:cNvCxnSpPr>
            <a:endCxn id="28" idx="0"/>
          </p:cNvCxnSpPr>
          <p:nvPr/>
        </p:nvCxnSpPr>
        <p:spPr>
          <a:xfrm flipH="1">
            <a:off x="8762035" y="1943100"/>
            <a:ext cx="777889" cy="3262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969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F5C031-95C9-41A3-A229-4445C79303B6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9808" lnSpcReduction="10000"/>
          </a:bodyPr>
          <a:lstStyle/>
          <a:p>
            <a:pPr algn="l">
              <a:def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6AD9C6-3436-40EE-9EC2-31A483F1236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723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2925" b="1">
                <a:solidFill>
                  <a:srgbClr val="25312A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25312A"/>
                </a:solidFill>
                <a:latin typeface="Songti SC"/>
                <a:ea typeface="Songti SC"/>
                <a:cs typeface="Songti SC"/>
              </a:rPr>
              <a:t>开场先问准：到底调研谁、从什么视角看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31E8F8-B7ED-4E45-BF71-799A3A198994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先确认产品和竞品，再决定报告的建议角度。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AE23C1-CF8B-49C7-BACD-B58C7F12690C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910300" cy="45719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E558DD87-E65F-4367-A85C-B8F962189509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2905214" cy="937153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B6266F-6351-428D-A32D-7AF0813BB133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48420" cy="937153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7AB7AB-BAA2-4574-BFE1-A1C22FA6D732}"/>
              </a:ext>
            </a:extLst>
          </p:cNvPr>
          <p:cNvSpPr>
            <a:spLocks noGrp="1"/>
          </p:cNvSpPr>
          <p:nvPr/>
        </p:nvSpPr>
        <p:spPr>
          <a:xfrm>
            <a:off x="819150" y="2031518"/>
            <a:ext cx="2479116" cy="1785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产品确认</a:t>
            </a:r>
            <a:endParaRPr sz="1400" b="1" dirty="0">
              <a:solidFill>
                <a:srgbClr val="2531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AC9246-62EF-4F76-9642-75FFBC3B101F}"/>
              </a:ext>
            </a:extLst>
          </p:cNvPr>
          <p:cNvSpPr>
            <a:spLocks noGrp="1"/>
          </p:cNvSpPr>
          <p:nvPr/>
        </p:nvSpPr>
        <p:spPr>
          <a:xfrm>
            <a:off x="819150" y="2305050"/>
            <a:ext cx="2479116" cy="4313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系统先识别用户真正想调研的产品或公司，并提示所属领域，避免后续报告跑题</a:t>
            </a:r>
            <a:r>
              <a:rPr sz="12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D234FE06-CEDE-4048-B529-979B307B6D95}"/>
              </a:ext>
            </a:extLst>
          </p:cNvPr>
          <p:cNvSpPr>
            <a:spLocks noGrp="1"/>
          </p:cNvSpPr>
          <p:nvPr/>
        </p:nvSpPr>
        <p:spPr>
          <a:xfrm>
            <a:off x="609600" y="3108312"/>
            <a:ext cx="2905214" cy="937153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C2973F-C565-4DA8-920E-B9867A8AE2D1}"/>
              </a:ext>
            </a:extLst>
          </p:cNvPr>
          <p:cNvSpPr>
            <a:spLocks noGrp="1"/>
          </p:cNvSpPr>
          <p:nvPr/>
        </p:nvSpPr>
        <p:spPr>
          <a:xfrm>
            <a:off x="609600" y="3108312"/>
            <a:ext cx="48420" cy="937153"/>
          </a:xfrm>
          <a:prstGeom prst="rect">
            <a:avLst/>
          </a:prstGeom>
          <a:solidFill>
            <a:srgbClr val="6B8FA8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AAF19DB-2498-42AF-91E3-BCA1C2B40A2B}"/>
              </a:ext>
            </a:extLst>
          </p:cNvPr>
          <p:cNvSpPr>
            <a:spLocks noGrp="1"/>
          </p:cNvSpPr>
          <p:nvPr/>
        </p:nvSpPr>
        <p:spPr>
          <a:xfrm>
            <a:off x="819150" y="3139580"/>
            <a:ext cx="2479116" cy="1785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竞品勾选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5193D1-438E-4B4F-BEF1-584D7E76D5C8}"/>
              </a:ext>
            </a:extLst>
          </p:cNvPr>
          <p:cNvSpPr>
            <a:spLocks noGrp="1"/>
          </p:cNvSpPr>
          <p:nvPr/>
        </p:nvSpPr>
        <p:spPr>
          <a:xfrm>
            <a:off x="819150" y="3413112"/>
            <a:ext cx="2479116" cy="4313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自动发现候选竞品，让用户勾选重点对象；如果漏了，也可以在补充项里加。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FA72EE96-C7EE-4A90-9B7E-71D2EE59A825}"/>
              </a:ext>
            </a:extLst>
          </p:cNvPr>
          <p:cNvSpPr>
            <a:spLocks noGrp="1"/>
          </p:cNvSpPr>
          <p:nvPr/>
        </p:nvSpPr>
        <p:spPr>
          <a:xfrm>
            <a:off x="609600" y="4188997"/>
            <a:ext cx="2905214" cy="937153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B4C709-1E94-40E1-83D9-5CD9267226C8}"/>
              </a:ext>
            </a:extLst>
          </p:cNvPr>
          <p:cNvSpPr>
            <a:spLocks noGrp="1"/>
          </p:cNvSpPr>
          <p:nvPr/>
        </p:nvSpPr>
        <p:spPr>
          <a:xfrm>
            <a:off x="609600" y="4188997"/>
            <a:ext cx="48420" cy="937153"/>
          </a:xfrm>
          <a:prstGeom prst="rect">
            <a:avLst/>
          </a:prstGeom>
          <a:solidFill>
            <a:srgbClr val="D9B46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967DB4D-9FE5-46A4-8F3A-BCA67DA13241}"/>
              </a:ext>
            </a:extLst>
          </p:cNvPr>
          <p:cNvSpPr>
            <a:spLocks noGrp="1"/>
          </p:cNvSpPr>
          <p:nvPr/>
        </p:nvSpPr>
        <p:spPr>
          <a:xfrm>
            <a:off x="819150" y="4220265"/>
            <a:ext cx="2479116" cy="1785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角色视角</a:t>
            </a:r>
            <a:endParaRPr sz="1400" b="1" dirty="0">
              <a:solidFill>
                <a:srgbClr val="2531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3EE23BC-6FF1-4CC6-B9CE-D901F1D7D823}"/>
              </a:ext>
            </a:extLst>
          </p:cNvPr>
          <p:cNvSpPr>
            <a:spLocks noGrp="1"/>
          </p:cNvSpPr>
          <p:nvPr/>
        </p:nvSpPr>
        <p:spPr>
          <a:xfrm>
            <a:off x="819150" y="4493797"/>
            <a:ext cx="2479116" cy="4313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产品经理、运营、销售、用户、投资人视角会生成不同的专属建议</a:t>
            </a:r>
            <a:r>
              <a:rPr sz="12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4E7CAFD-5F4C-4DB9-8E36-A3A1FD0CEA86}"/>
              </a:ext>
            </a:extLst>
          </p:cNvPr>
          <p:cNvSpPr>
            <a:spLocks noGrp="1"/>
          </p:cNvSpPr>
          <p:nvPr/>
        </p:nvSpPr>
        <p:spPr>
          <a:xfrm>
            <a:off x="609600" y="5280819"/>
            <a:ext cx="2905214" cy="937153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E07503-CE9C-48A4-AF82-0E159B97B2D8}"/>
              </a:ext>
            </a:extLst>
          </p:cNvPr>
          <p:cNvSpPr>
            <a:spLocks noGrp="1"/>
          </p:cNvSpPr>
          <p:nvPr/>
        </p:nvSpPr>
        <p:spPr>
          <a:xfrm>
            <a:off x="609600" y="5280819"/>
            <a:ext cx="48420" cy="937153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7C7A15D-EA07-444F-95B3-19162C93EB90}"/>
              </a:ext>
            </a:extLst>
          </p:cNvPr>
          <p:cNvSpPr>
            <a:spLocks noGrp="1"/>
          </p:cNvSpPr>
          <p:nvPr/>
        </p:nvSpPr>
        <p:spPr>
          <a:xfrm>
            <a:off x="819150" y="5312087"/>
            <a:ext cx="2479116" cy="1785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输出更贴近用途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44E5067-F4F0-4A2D-9612-9B9D72893D1C}"/>
              </a:ext>
            </a:extLst>
          </p:cNvPr>
          <p:cNvSpPr>
            <a:spLocks noGrp="1"/>
          </p:cNvSpPr>
          <p:nvPr/>
        </p:nvSpPr>
        <p:spPr>
          <a:xfrm>
            <a:off x="819150" y="5585619"/>
            <a:ext cx="2479116" cy="4313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同一组证据，不同角色读到的重点不同：销售要话术，PM</a:t>
            </a:r>
            <a:r>
              <a:rPr sz="12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要迭代启示，投资人要壁垒判断</a:t>
            </a:r>
            <a:r>
              <a:rPr sz="12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7CD6C4-008B-467F-A298-24682AAF63A3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青野 Verda · AI 竞品情报工作台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77E667BD-7545-0292-E0B6-A256CC000B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486" y="1610125"/>
            <a:ext cx="4474915" cy="50383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C2E2DDE3-6808-EBF7-83D6-27B643BB13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073" y="1585192"/>
            <a:ext cx="3967026" cy="50632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0409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0B1B982-6580-4747-AE48-D03737724DA9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9808" lnSpcReduction="10000"/>
          </a:bodyPr>
          <a:lstStyle/>
          <a:p>
            <a:pPr algn="l">
              <a:def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034300-1ECF-45A0-824A-360A4AC1D8C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723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2925" b="1">
                <a:solidFill>
                  <a:srgbClr val="25312A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25312A"/>
                </a:solidFill>
                <a:latin typeface="Songti SC"/>
                <a:ea typeface="Songti SC"/>
                <a:cs typeface="Songti SC"/>
              </a:rPr>
              <a:t>48 位专家分成 3 / 9 / 36 的真实角色池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663060-8E23-4A76-8999-25CF2C5C9E0F}"/>
              </a:ext>
            </a:extLst>
          </p:cNvPr>
          <p:cNvSpPr>
            <a:spLocks noGrp="1"/>
          </p:cNvSpPr>
          <p:nvPr/>
        </p:nvSpPr>
        <p:spPr>
          <a:xfrm>
            <a:off x="609599" y="1280485"/>
            <a:ext cx="10972801" cy="5626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lnSpcReduction="10000"/>
          </a:bodyPr>
          <a:lstStyle/>
          <a:p>
            <a:pPr algn="l">
              <a:defRPr sz="15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最终版专家数据包含</a:t>
            </a:r>
            <a:r>
              <a:rPr sz="15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 L3 </a:t>
            </a:r>
            <a:r>
              <a:rPr sz="15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决策层</a:t>
            </a:r>
            <a:r>
              <a:rPr sz="15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 3 位、L2 </a:t>
            </a:r>
            <a:r>
              <a:rPr sz="15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策略层</a:t>
            </a:r>
            <a:r>
              <a:rPr sz="15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 9 位、L1 </a:t>
            </a:r>
            <a:r>
              <a:rPr sz="15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执行层</a:t>
            </a:r>
            <a:r>
              <a:rPr sz="15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 36 </a:t>
            </a:r>
            <a:r>
              <a:rPr sz="15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位，调度时按任务主题动态组队</a:t>
            </a:r>
            <a:r>
              <a:rPr sz="15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500" b="0" dirty="0">
              <a:solidFill>
                <a:srgbClr val="65705F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结构化消息：</a:t>
            </a:r>
            <a:r>
              <a:rPr lang="en" altLang="zh-CN" sz="160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Agent </a:t>
            </a:r>
            <a:r>
              <a:rPr lang="zh-CN" altLang="en-US" sz="160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间用 </a:t>
            </a:r>
            <a:r>
              <a:rPr lang="en" altLang="zh-CN" sz="160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Envelope </a:t>
            </a:r>
            <a:r>
              <a:rPr lang="zh-CN" altLang="en-US" sz="160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传递 </a:t>
            </a:r>
            <a:r>
              <a:rPr lang="en" altLang="zh-CN" sz="160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sender</a:t>
            </a:r>
            <a:r>
              <a:rPr lang="zh-CN" altLang="en" sz="160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" altLang="zh-CN" sz="160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receiver</a:t>
            </a:r>
            <a:r>
              <a:rPr lang="zh-CN" altLang="en" sz="160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" altLang="zh-CN" sz="160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task_type</a:t>
            </a:r>
            <a:r>
              <a:rPr lang="zh-CN" altLang="en" sz="160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en" altLang="zh-CN" sz="160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payload </a:t>
            </a:r>
            <a:r>
              <a:rPr lang="zh-CN" altLang="en-US" sz="160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和 </a:t>
            </a:r>
            <a:r>
              <a:rPr lang="en" altLang="zh-CN" sz="160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issues</a:t>
            </a:r>
            <a:r>
              <a:rPr lang="zh-CN" altLang="en" sz="160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zh-CN" altLang="en-US" sz="160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不靠纯自然语言聊天推进。</a:t>
            </a:r>
          </a:p>
          <a:p>
            <a:pPr algn="l">
              <a:defRPr sz="15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endParaRPr sz="1500" b="0" dirty="0" err="1">
              <a:solidFill>
                <a:srgbClr val="6570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F18322-D0AD-434F-90B1-4D28269D3393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895350" cy="28575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56530" y="628650"/>
            <a:ext cx="552450" cy="552450"/>
          </a:xfrm>
          <a:prstGeom prst="roundRect">
            <a:avLst>
              <a:gd name="adj" fmla="val 27586"/>
            </a:avLst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899480" y="628650"/>
            <a:ext cx="552450" cy="552450"/>
          </a:xfrm>
          <a:prstGeom prst="roundRect">
            <a:avLst>
              <a:gd name="adj" fmla="val 27586"/>
            </a:avLst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42430" y="628650"/>
            <a:ext cx="552450" cy="552450"/>
          </a:xfrm>
          <a:prstGeom prst="roundRect">
            <a:avLst>
              <a:gd name="adj" fmla="val 27586"/>
            </a:avLst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385380" y="628650"/>
            <a:ext cx="552450" cy="552450"/>
          </a:xfrm>
          <a:prstGeom prst="roundRect">
            <a:avLst>
              <a:gd name="adj" fmla="val 27586"/>
            </a:avLst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128330" y="628650"/>
            <a:ext cx="552450" cy="552450"/>
          </a:xfrm>
          <a:prstGeom prst="roundRect">
            <a:avLst>
              <a:gd name="adj" fmla="val 27586"/>
            </a:avLst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10871280" y="628650"/>
            <a:ext cx="552450" cy="552450"/>
          </a:xfrm>
          <a:prstGeom prst="roundRect">
            <a:avLst>
              <a:gd name="adj" fmla="val 27586"/>
            </a:avLst>
          </a:prstGeom>
        </p:spPr>
      </p:pic>
      <p:sp>
        <p:nvSpPr>
          <p:cNvPr id="12" name="圆角矩形 11">
            <a:extLst>
              <a:ext uri="{FF2B5EF4-FFF2-40B4-BE49-F238E27FC236}">
                <a16:creationId xmlns:a16="http://schemas.microsoft.com/office/drawing/2014/main" id="{EF76EBDB-2E3D-42F7-A149-94A20186171C}"/>
              </a:ext>
            </a:extLst>
          </p:cNvPr>
          <p:cNvSpPr>
            <a:spLocks noGrp="1"/>
          </p:cNvSpPr>
          <p:nvPr/>
        </p:nvSpPr>
        <p:spPr>
          <a:xfrm>
            <a:off x="628650" y="2233612"/>
            <a:ext cx="2857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DA43740-6A4F-4F74-B2D4-A7A09062F06F}"/>
              </a:ext>
            </a:extLst>
          </p:cNvPr>
          <p:cNvSpPr>
            <a:spLocks noGrp="1"/>
          </p:cNvSpPr>
          <p:nvPr/>
        </p:nvSpPr>
        <p:spPr>
          <a:xfrm>
            <a:off x="628650" y="2233612"/>
            <a:ext cx="47625" cy="1066800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2E15BCF-536A-4BD9-8BB1-4E01832BE52A}"/>
              </a:ext>
            </a:extLst>
          </p:cNvPr>
          <p:cNvSpPr>
            <a:spLocks noGrp="1"/>
          </p:cNvSpPr>
          <p:nvPr/>
        </p:nvSpPr>
        <p:spPr>
          <a:xfrm>
            <a:off x="838200" y="2405062"/>
            <a:ext cx="2809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500"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L3 决策层 · 3 位</a:t>
            </a:r>
            <a:endParaRPr sz="1600" b="1" dirty="0">
              <a:solidFill>
                <a:srgbClr val="2531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D3BA25-8BB6-4B96-A59A-11A7E7F216E0}"/>
              </a:ext>
            </a:extLst>
          </p:cNvPr>
          <p:cNvSpPr>
            <a:spLocks noGrp="1"/>
          </p:cNvSpPr>
          <p:nvPr/>
        </p:nvSpPr>
        <p:spPr>
          <a:xfrm>
            <a:off x="838200" y="2747962"/>
            <a:ext cx="2541608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调研总监、首席分析官、质检总监负责拆题、专家调度、终审签发和质量把关</a:t>
            </a:r>
            <a:r>
              <a:rPr sz="10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BF1F853-BD78-4CF1-83B0-F2DCB114A5C8}"/>
              </a:ext>
            </a:extLst>
          </p:cNvPr>
          <p:cNvSpPr>
            <a:spLocks noGrp="1"/>
          </p:cNvSpPr>
          <p:nvPr/>
        </p:nvSpPr>
        <p:spPr>
          <a:xfrm>
            <a:off x="628650" y="3529012"/>
            <a:ext cx="2857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5D5A85-B826-4FED-BB2A-6E1CAF688088}"/>
              </a:ext>
            </a:extLst>
          </p:cNvPr>
          <p:cNvSpPr>
            <a:spLocks noGrp="1"/>
          </p:cNvSpPr>
          <p:nvPr/>
        </p:nvSpPr>
        <p:spPr>
          <a:xfrm>
            <a:off x="628650" y="3529012"/>
            <a:ext cx="47625" cy="1066800"/>
          </a:xfrm>
          <a:prstGeom prst="rect">
            <a:avLst/>
          </a:prstGeom>
          <a:solidFill>
            <a:srgbClr val="6B8FA8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6B99122-6D0E-4940-AF13-9D11BB03059F}"/>
              </a:ext>
            </a:extLst>
          </p:cNvPr>
          <p:cNvSpPr>
            <a:spLocks noGrp="1"/>
          </p:cNvSpPr>
          <p:nvPr/>
        </p:nvSpPr>
        <p:spPr>
          <a:xfrm>
            <a:off x="838200" y="3700462"/>
            <a:ext cx="2809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500"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 dirty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L2 策略层 · 9 位</a:t>
            </a:r>
            <a:endParaRPr sz="1600" b="1" dirty="0">
              <a:solidFill>
                <a:srgbClr val="2531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DC30134-D37E-4199-B893-F85B7D8638B7}"/>
              </a:ext>
            </a:extLst>
          </p:cNvPr>
          <p:cNvSpPr>
            <a:spLocks noGrp="1"/>
          </p:cNvSpPr>
          <p:nvPr/>
        </p:nvSpPr>
        <p:spPr>
          <a:xfrm>
            <a:off x="838200" y="4043362"/>
            <a:ext cx="2541608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战略咨询、定价、用户研究、竞争情报、财务、技术架构、营销、数据、合规专家负责分析判断。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2286513A-168D-4BD4-BE5B-154F176358D4}"/>
              </a:ext>
            </a:extLst>
          </p:cNvPr>
          <p:cNvSpPr>
            <a:spLocks noGrp="1"/>
          </p:cNvSpPr>
          <p:nvPr/>
        </p:nvSpPr>
        <p:spPr>
          <a:xfrm>
            <a:off x="609600" y="4767262"/>
            <a:ext cx="2857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CFAA34D-2A68-420C-8B12-B7E009C3FD2F}"/>
              </a:ext>
            </a:extLst>
          </p:cNvPr>
          <p:cNvSpPr>
            <a:spLocks noGrp="1"/>
          </p:cNvSpPr>
          <p:nvPr/>
        </p:nvSpPr>
        <p:spPr>
          <a:xfrm>
            <a:off x="609600" y="4767262"/>
            <a:ext cx="47625" cy="1066800"/>
          </a:xfrm>
          <a:prstGeom prst="rect">
            <a:avLst/>
          </a:prstGeom>
          <a:solidFill>
            <a:srgbClr val="D9B46C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8EE799D-1725-4069-9D08-EFCF85CCBE44}"/>
              </a:ext>
            </a:extLst>
          </p:cNvPr>
          <p:cNvSpPr>
            <a:spLocks noGrp="1"/>
          </p:cNvSpPr>
          <p:nvPr/>
        </p:nvSpPr>
        <p:spPr>
          <a:xfrm>
            <a:off x="819150" y="4938712"/>
            <a:ext cx="28098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500"/>
          </a:bodyPr>
          <a:lstStyle/>
          <a:p>
            <a:pPr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 dirty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L1 执行层 · 36 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9B8FD02-DE36-491E-91F7-E6F5C2FCC90A}"/>
              </a:ext>
            </a:extLst>
          </p:cNvPr>
          <p:cNvSpPr>
            <a:spLocks noGrp="1"/>
          </p:cNvSpPr>
          <p:nvPr/>
        </p:nvSpPr>
        <p:spPr>
          <a:xfrm>
            <a:off x="819150" y="5281612"/>
            <a:ext cx="2438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24 位行业专家 + 12 位职能专家，覆盖行业采集、事实核查、舆情、评论、财报、图表等执行任务。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7756C00-EC97-497F-B5E5-B4CD56858CEA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青野 Verda · AI 竞品情报工作台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55910BD-317A-02BA-2E1D-81DB6ADA0B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35672" y="1824038"/>
            <a:ext cx="6450479" cy="36640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圆角矩形 7">
            <a:extLst>
              <a:ext uri="{FF2B5EF4-FFF2-40B4-BE49-F238E27FC236}">
                <a16:creationId xmlns:a16="http://schemas.microsoft.com/office/drawing/2014/main" id="{541FD1E5-52A1-1946-FBF5-0D21CEF9F041}"/>
              </a:ext>
            </a:extLst>
          </p:cNvPr>
          <p:cNvSpPr>
            <a:spLocks noGrp="1"/>
          </p:cNvSpPr>
          <p:nvPr/>
        </p:nvSpPr>
        <p:spPr>
          <a:xfrm>
            <a:off x="3629025" y="5657850"/>
            <a:ext cx="1638300" cy="1123950"/>
          </a:xfrm>
          <a:prstGeom prst="roundRect">
            <a:avLst>
              <a:gd name="adj" fmla="val 10169"/>
            </a:avLst>
          </a:prstGeom>
          <a:solidFill>
            <a:srgbClr val="F6F8F2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F62391-86C1-6A6F-805A-16D0F9901C9B}"/>
              </a:ext>
            </a:extLst>
          </p:cNvPr>
          <p:cNvSpPr>
            <a:spLocks noGrp="1"/>
          </p:cNvSpPr>
          <p:nvPr/>
        </p:nvSpPr>
        <p:spPr>
          <a:xfrm>
            <a:off x="3857625" y="5886450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1667" lnSpcReduction="20000"/>
          </a:bodyPr>
          <a:lstStyle/>
          <a:p>
            <a:pPr algn="ctr">
              <a:defRPr sz="21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L3 决策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17C088-AEF4-214D-C77C-7BA8AE613245}"/>
              </a:ext>
            </a:extLst>
          </p:cNvPr>
          <p:cNvSpPr>
            <a:spLocks noGrp="1"/>
          </p:cNvSpPr>
          <p:nvPr/>
        </p:nvSpPr>
        <p:spPr>
          <a:xfrm>
            <a:off x="3800475" y="6324600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5833"/>
          </a:bodyPr>
          <a:lstStyle/>
          <a:p>
            <a:pPr algn="ctr">
              <a:defRPr sz="12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拆题与调度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7CB05B-2F8C-54B9-DE6B-B19E4456D0DD}"/>
              </a:ext>
            </a:extLst>
          </p:cNvPr>
          <p:cNvSpPr>
            <a:spLocks noGrp="1"/>
          </p:cNvSpPr>
          <p:nvPr/>
        </p:nvSpPr>
        <p:spPr>
          <a:xfrm>
            <a:off x="5353050" y="6038850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1965" lnSpcReduction="10000"/>
          </a:bodyPr>
          <a:lstStyle/>
          <a:p>
            <a:pPr algn="l">
              <a:defRPr sz="2025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0D02337D-0AB8-1C9C-635F-F6F1BF7032B7}"/>
              </a:ext>
            </a:extLst>
          </p:cNvPr>
          <p:cNvSpPr>
            <a:spLocks noGrp="1"/>
          </p:cNvSpPr>
          <p:nvPr/>
        </p:nvSpPr>
        <p:spPr>
          <a:xfrm>
            <a:off x="5876925" y="5657850"/>
            <a:ext cx="1638300" cy="1123950"/>
          </a:xfrm>
          <a:prstGeom prst="roundRect">
            <a:avLst>
              <a:gd name="adj" fmla="val 10169"/>
            </a:avLst>
          </a:prstGeom>
          <a:solidFill>
            <a:srgbClr val="F6F8F2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1249ED-08B1-ED55-69EB-95F9B484758A}"/>
              </a:ext>
            </a:extLst>
          </p:cNvPr>
          <p:cNvSpPr>
            <a:spLocks noGrp="1"/>
          </p:cNvSpPr>
          <p:nvPr/>
        </p:nvSpPr>
        <p:spPr>
          <a:xfrm>
            <a:off x="6105525" y="5886450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1667" lnSpcReduction="20000"/>
          </a:bodyPr>
          <a:lstStyle/>
          <a:p>
            <a:pPr algn="ctr">
              <a:defRPr sz="21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L1 采集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96FFE38-2701-0C93-2A17-6960D229ADDC}"/>
              </a:ext>
            </a:extLst>
          </p:cNvPr>
          <p:cNvSpPr>
            <a:spLocks noGrp="1"/>
          </p:cNvSpPr>
          <p:nvPr/>
        </p:nvSpPr>
        <p:spPr>
          <a:xfrm>
            <a:off x="6048375" y="6324600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5833"/>
          </a:bodyPr>
          <a:lstStyle/>
          <a:p>
            <a:pPr algn="ctr">
              <a:defRPr sz="12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搜索与取证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CEA87E2-1C7E-7391-46EA-7BDE582F6BBD}"/>
              </a:ext>
            </a:extLst>
          </p:cNvPr>
          <p:cNvSpPr>
            <a:spLocks noGrp="1"/>
          </p:cNvSpPr>
          <p:nvPr/>
        </p:nvSpPr>
        <p:spPr>
          <a:xfrm>
            <a:off x="7600950" y="6038850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1965" lnSpcReduction="10000"/>
          </a:bodyPr>
          <a:lstStyle/>
          <a:p>
            <a:pPr algn="l">
              <a:defRPr sz="2025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3669126A-2677-A681-9995-79EDC96A9043}"/>
              </a:ext>
            </a:extLst>
          </p:cNvPr>
          <p:cNvSpPr>
            <a:spLocks noGrp="1"/>
          </p:cNvSpPr>
          <p:nvPr/>
        </p:nvSpPr>
        <p:spPr>
          <a:xfrm>
            <a:off x="8124825" y="5657850"/>
            <a:ext cx="1638300" cy="1123950"/>
          </a:xfrm>
          <a:prstGeom prst="roundRect">
            <a:avLst>
              <a:gd name="adj" fmla="val 10169"/>
            </a:avLst>
          </a:prstGeom>
          <a:solidFill>
            <a:srgbClr val="F6F8F2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EF0383C-5799-5699-B6F7-901D6E01A46D}"/>
              </a:ext>
            </a:extLst>
          </p:cNvPr>
          <p:cNvSpPr>
            <a:spLocks noGrp="1"/>
          </p:cNvSpPr>
          <p:nvPr/>
        </p:nvSpPr>
        <p:spPr>
          <a:xfrm>
            <a:off x="8353425" y="5886450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1667" lnSpcReduction="20000"/>
          </a:bodyPr>
          <a:lstStyle/>
          <a:p>
            <a:pPr algn="ctr">
              <a:defRPr sz="21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L2 分析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BC8E0C-896E-8830-3906-B380C6FF54F9}"/>
              </a:ext>
            </a:extLst>
          </p:cNvPr>
          <p:cNvSpPr>
            <a:spLocks noGrp="1"/>
          </p:cNvSpPr>
          <p:nvPr/>
        </p:nvSpPr>
        <p:spPr>
          <a:xfrm>
            <a:off x="8296275" y="6324600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5833"/>
          </a:bodyPr>
          <a:lstStyle/>
          <a:p>
            <a:pPr algn="ctr">
              <a:defRPr sz="12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结构化论点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43E9EB3-AE5F-2545-F8A1-2A9394FD4569}"/>
              </a:ext>
            </a:extLst>
          </p:cNvPr>
          <p:cNvSpPr>
            <a:spLocks noGrp="1"/>
          </p:cNvSpPr>
          <p:nvPr/>
        </p:nvSpPr>
        <p:spPr>
          <a:xfrm>
            <a:off x="9848850" y="6038850"/>
            <a:ext cx="400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1965" lnSpcReduction="10000"/>
          </a:bodyPr>
          <a:lstStyle/>
          <a:p>
            <a:pPr algn="l">
              <a:defRPr sz="2025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F6486941-C3F6-B307-137B-181D47BD198C}"/>
              </a:ext>
            </a:extLst>
          </p:cNvPr>
          <p:cNvSpPr>
            <a:spLocks noGrp="1"/>
          </p:cNvSpPr>
          <p:nvPr/>
        </p:nvSpPr>
        <p:spPr>
          <a:xfrm>
            <a:off x="10372725" y="5657850"/>
            <a:ext cx="1638300" cy="1123950"/>
          </a:xfrm>
          <a:prstGeom prst="roundRect">
            <a:avLst>
              <a:gd name="adj" fmla="val 10169"/>
            </a:avLst>
          </a:prstGeom>
          <a:solidFill>
            <a:srgbClr val="E7EFE2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8E4F659-2316-43A7-DFC2-003025D40FE6}"/>
              </a:ext>
            </a:extLst>
          </p:cNvPr>
          <p:cNvSpPr>
            <a:spLocks noGrp="1"/>
          </p:cNvSpPr>
          <p:nvPr/>
        </p:nvSpPr>
        <p:spPr>
          <a:xfrm>
            <a:off x="10601325" y="5886450"/>
            <a:ext cx="1181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1667" lnSpcReduction="20000"/>
          </a:bodyPr>
          <a:lstStyle/>
          <a:p>
            <a:pPr algn="ctr">
              <a:defRPr sz="21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L3 质检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F1ABD02-0E84-1FAF-4C2E-0CEB17645D62}"/>
              </a:ext>
            </a:extLst>
          </p:cNvPr>
          <p:cNvSpPr>
            <a:spLocks noGrp="1"/>
          </p:cNvSpPr>
          <p:nvPr/>
        </p:nvSpPr>
        <p:spPr>
          <a:xfrm>
            <a:off x="10544175" y="6324600"/>
            <a:ext cx="1295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5833"/>
          </a:bodyPr>
          <a:lstStyle/>
          <a:p>
            <a:pPr algn="ctr">
              <a:defRPr sz="12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打回或签发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27CA1BB-762D-2CAC-4B3F-903C6C022F98}"/>
              </a:ext>
            </a:extLst>
          </p:cNvPr>
          <p:cNvSpPr>
            <a:spLocks noGrp="1"/>
          </p:cNvSpPr>
          <p:nvPr/>
        </p:nvSpPr>
        <p:spPr>
          <a:xfrm>
            <a:off x="819150" y="6441281"/>
            <a:ext cx="605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7892" lnSpcReduction="10000"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endParaRPr sz="1275" b="0" dirty="0">
              <a:solidFill>
                <a:srgbClr val="65705F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4232E9A-D4A6-22D9-57B5-2955D50B72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68837" y="1762125"/>
            <a:ext cx="4542188" cy="39242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4396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EB">
            <a:alpha val="7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2D68D12-2D79-4F26-B1C1-A091E372A451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9808" lnSpcReduction="10000"/>
          </a:bodyPr>
          <a:lstStyle/>
          <a:p>
            <a:pPr algn="l">
              <a:def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dirty="0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altLang="zh-CN" sz="975" b="1" dirty="0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6</a:t>
            </a:r>
            <a:endParaRPr sz="975" b="1" dirty="0">
              <a:solidFill>
                <a:srgbClr val="315C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91567D-A3BC-4C46-B31E-B71EDF39663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90106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925" b="1">
                <a:solidFill>
                  <a:srgbClr val="25312A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925" b="1" dirty="0">
                <a:solidFill>
                  <a:srgbClr val="25312A"/>
                </a:solidFill>
                <a:latin typeface="Songti SC"/>
                <a:ea typeface="Songti SC"/>
                <a:cs typeface="Songti SC"/>
              </a:rPr>
              <a:t>最终调研报告：</a:t>
            </a:r>
            <a:r>
              <a:rPr sz="2925" b="1" dirty="0" err="1">
                <a:solidFill>
                  <a:srgbClr val="25312A"/>
                </a:solidFill>
                <a:latin typeface="Songti SC"/>
                <a:ea typeface="Songti SC"/>
                <a:cs typeface="Songti SC"/>
              </a:rPr>
              <a:t>可追溯、可复用、可运营</a:t>
            </a:r>
            <a:endParaRPr sz="2925" b="1" dirty="0">
              <a:solidFill>
                <a:srgbClr val="25312A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FC3897-72C9-4A37-A9CF-3A58325112FF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500" lnSpcReduction="20000"/>
          </a:bodyPr>
          <a:lstStyle/>
          <a:p>
            <a:pPr algn="l">
              <a:defRPr sz="15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报告页把正文阅读、证据溯源、知识库沉淀和</a:t>
            </a:r>
            <a:r>
              <a:rPr sz="15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 Agent </a:t>
            </a:r>
            <a:r>
              <a:rPr sz="15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决策回放放在同一个工作台里，解决“读完就散”的问题</a:t>
            </a:r>
            <a:r>
              <a:rPr sz="15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B16B308-5A00-471F-B881-CDB8C5D50BB3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895350" cy="28575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CC7ABFD-AB1B-49AC-8EB4-AE0156D6F1F0}"/>
              </a:ext>
            </a:extLst>
          </p:cNvPr>
          <p:cNvSpPr>
            <a:spLocks noGrp="1"/>
          </p:cNvSpPr>
          <p:nvPr/>
        </p:nvSpPr>
        <p:spPr>
          <a:xfrm>
            <a:off x="648872" y="2059378"/>
            <a:ext cx="1530741" cy="87432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FF9BDB5-FC11-4BFC-BBE8-A7EF2DDB762E}"/>
              </a:ext>
            </a:extLst>
          </p:cNvPr>
          <p:cNvSpPr>
            <a:spLocks noGrp="1"/>
          </p:cNvSpPr>
          <p:nvPr/>
        </p:nvSpPr>
        <p:spPr>
          <a:xfrm>
            <a:off x="763172" y="2211778"/>
            <a:ext cx="1177493" cy="2690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目录进度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871104-1F4D-4F3A-8A5D-7FFE874DD6AA}"/>
              </a:ext>
            </a:extLst>
          </p:cNvPr>
          <p:cNvSpPr>
            <a:spLocks noGrp="1"/>
          </p:cNvSpPr>
          <p:nvPr/>
        </p:nvSpPr>
        <p:spPr>
          <a:xfrm>
            <a:off x="763172" y="2497528"/>
            <a:ext cx="1177493" cy="2466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309" lnSpcReduction="10000"/>
          </a:bodyPr>
          <a:lstStyle/>
          <a:p>
            <a:pPr algn="ctr">
              <a:defRPr sz="10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左侧 8 章导航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749EEC-8556-4413-ABDB-B4E0C1ECD157}"/>
              </a:ext>
            </a:extLst>
          </p:cNvPr>
          <p:cNvSpPr>
            <a:spLocks noGrp="1"/>
          </p:cNvSpPr>
          <p:nvPr/>
        </p:nvSpPr>
        <p:spPr>
          <a:xfrm>
            <a:off x="2304084" y="2268927"/>
            <a:ext cx="529872" cy="381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519"/>
          </a:bodyPr>
          <a:lstStyle/>
          <a:p>
            <a:pPr algn="l">
              <a:defRPr sz="1800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 dirty="0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3DC8185-7642-4E8A-991F-F42DF9B93A04}"/>
              </a:ext>
            </a:extLst>
          </p:cNvPr>
          <p:cNvSpPr>
            <a:spLocks noGrp="1"/>
          </p:cNvSpPr>
          <p:nvPr/>
        </p:nvSpPr>
        <p:spPr>
          <a:xfrm>
            <a:off x="2833956" y="2059378"/>
            <a:ext cx="1530741" cy="87432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A52998-6E3F-40AA-BF67-7ADC19780BAB}"/>
              </a:ext>
            </a:extLst>
          </p:cNvPr>
          <p:cNvSpPr>
            <a:spLocks noGrp="1"/>
          </p:cNvSpPr>
          <p:nvPr/>
        </p:nvSpPr>
        <p:spPr>
          <a:xfrm>
            <a:off x="2948256" y="2211778"/>
            <a:ext cx="1177493" cy="2690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核心指标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2CAAF0-E47F-429D-B796-433626782AC1}"/>
              </a:ext>
            </a:extLst>
          </p:cNvPr>
          <p:cNvSpPr>
            <a:spLocks noGrp="1"/>
          </p:cNvSpPr>
          <p:nvPr/>
        </p:nvSpPr>
        <p:spPr>
          <a:xfrm>
            <a:off x="2948256" y="2497528"/>
            <a:ext cx="1177493" cy="2466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结论/证据/信源/置信度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6B9F17-6673-4B3F-9BE1-F4413968AFDA}"/>
              </a:ext>
            </a:extLst>
          </p:cNvPr>
          <p:cNvSpPr>
            <a:spLocks noGrp="1"/>
          </p:cNvSpPr>
          <p:nvPr/>
        </p:nvSpPr>
        <p:spPr>
          <a:xfrm>
            <a:off x="4586751" y="2268927"/>
            <a:ext cx="529872" cy="381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519"/>
          </a:bodyPr>
          <a:lstStyle/>
          <a:p>
            <a:pPr algn="l">
              <a:defRPr sz="1800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 dirty="0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8C1F3474-4A51-4FA9-8854-B8605AD42211}"/>
              </a:ext>
            </a:extLst>
          </p:cNvPr>
          <p:cNvSpPr>
            <a:spLocks noGrp="1"/>
          </p:cNvSpPr>
          <p:nvPr/>
        </p:nvSpPr>
        <p:spPr>
          <a:xfrm>
            <a:off x="5064086" y="2059378"/>
            <a:ext cx="1530741" cy="87432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36060E-1E26-42BF-9976-184068A79EE5}"/>
              </a:ext>
            </a:extLst>
          </p:cNvPr>
          <p:cNvSpPr>
            <a:spLocks noGrp="1"/>
          </p:cNvSpPr>
          <p:nvPr/>
        </p:nvSpPr>
        <p:spPr>
          <a:xfrm>
            <a:off x="5178386" y="2211778"/>
            <a:ext cx="1177493" cy="2690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正文标注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D5D7A43-0D43-4D6B-B200-B1FC45FDEE75}"/>
              </a:ext>
            </a:extLst>
          </p:cNvPr>
          <p:cNvSpPr>
            <a:spLocks noGrp="1"/>
          </p:cNvSpPr>
          <p:nvPr/>
        </p:nvSpPr>
        <p:spPr>
          <a:xfrm>
            <a:off x="5178386" y="2497528"/>
            <a:ext cx="1177493" cy="2466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高亮/批注/收入知识库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8DE500C-28AA-4DAE-BC2E-3C468EEEE217}"/>
              </a:ext>
            </a:extLst>
          </p:cNvPr>
          <p:cNvSpPr>
            <a:spLocks noGrp="1"/>
          </p:cNvSpPr>
          <p:nvPr/>
        </p:nvSpPr>
        <p:spPr>
          <a:xfrm>
            <a:off x="6669050" y="2268927"/>
            <a:ext cx="592435" cy="381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519"/>
          </a:bodyPr>
          <a:lstStyle/>
          <a:p>
            <a:pPr algn="l">
              <a:defRPr sz="1800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 dirty="0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768725FE-416D-4546-9EC7-B70D16934FA7}"/>
              </a:ext>
            </a:extLst>
          </p:cNvPr>
          <p:cNvSpPr>
            <a:spLocks noGrp="1"/>
          </p:cNvSpPr>
          <p:nvPr/>
        </p:nvSpPr>
        <p:spPr>
          <a:xfrm>
            <a:off x="7122136" y="2059378"/>
            <a:ext cx="1530741" cy="87432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D1D8591-B6C8-47DD-939A-918DFB76ED2A}"/>
              </a:ext>
            </a:extLst>
          </p:cNvPr>
          <p:cNvSpPr>
            <a:spLocks noGrp="1"/>
          </p:cNvSpPr>
          <p:nvPr/>
        </p:nvSpPr>
        <p:spPr>
          <a:xfrm>
            <a:off x="7236436" y="2211778"/>
            <a:ext cx="1177493" cy="2690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证据来源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D2EC670-7563-412E-9398-26EED4475C52}"/>
              </a:ext>
            </a:extLst>
          </p:cNvPr>
          <p:cNvSpPr>
            <a:spLocks noGrp="1"/>
          </p:cNvSpPr>
          <p:nvPr/>
        </p:nvSpPr>
        <p:spPr>
          <a:xfrm>
            <a:off x="7236436" y="2497528"/>
            <a:ext cx="1177493" cy="2466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一键跳回原始材料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2D222A4-93E9-434F-B1C2-1E85DB207ECE}"/>
              </a:ext>
            </a:extLst>
          </p:cNvPr>
          <p:cNvSpPr>
            <a:spLocks noGrp="1"/>
          </p:cNvSpPr>
          <p:nvPr/>
        </p:nvSpPr>
        <p:spPr>
          <a:xfrm>
            <a:off x="8679766" y="2278604"/>
            <a:ext cx="529872" cy="381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519"/>
          </a:bodyPr>
          <a:lstStyle/>
          <a:p>
            <a:pPr algn="l">
              <a:defRPr sz="1800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4C575085-042F-4114-B390-D99C675AC02F}"/>
              </a:ext>
            </a:extLst>
          </p:cNvPr>
          <p:cNvSpPr>
            <a:spLocks noGrp="1"/>
          </p:cNvSpPr>
          <p:nvPr/>
        </p:nvSpPr>
        <p:spPr>
          <a:xfrm>
            <a:off x="9069350" y="2059378"/>
            <a:ext cx="1530741" cy="87432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80AEC10-F24C-4CA4-83A2-5FF8E3C175C6}"/>
              </a:ext>
            </a:extLst>
          </p:cNvPr>
          <p:cNvSpPr>
            <a:spLocks noGrp="1"/>
          </p:cNvSpPr>
          <p:nvPr/>
        </p:nvSpPr>
        <p:spPr>
          <a:xfrm>
            <a:off x="9183650" y="2211778"/>
            <a:ext cx="1177493" cy="2690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决策回放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518F8F7-2461-4488-B1E9-A3B73ACF0819}"/>
              </a:ext>
            </a:extLst>
          </p:cNvPr>
          <p:cNvSpPr>
            <a:spLocks noGrp="1"/>
          </p:cNvSpPr>
          <p:nvPr/>
        </p:nvSpPr>
        <p:spPr>
          <a:xfrm>
            <a:off x="9183650" y="2497528"/>
            <a:ext cx="1177493" cy="2466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3809" lnSpcReduction="20000"/>
          </a:bodyPr>
          <a:lstStyle/>
          <a:p>
            <a:pPr algn="ctr">
              <a:defRPr sz="10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Trace 高亮关联证据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7640EAB-F8AD-4C5C-AF87-A32D236DA844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青野 Verda · AI 竞品情报工作台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A660BDB-95F0-4D3D-8FBF-A6B384154ED6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1962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r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团队答辩稿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9FA57CE3-EE9C-C084-6D3D-C6C50090F058}"/>
              </a:ext>
            </a:extLst>
          </p:cNvPr>
          <p:cNvSpPr>
            <a:spLocks noGrp="1"/>
          </p:cNvSpPr>
          <p:nvPr/>
        </p:nvSpPr>
        <p:spPr>
          <a:xfrm>
            <a:off x="690368" y="3030680"/>
            <a:ext cx="54292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FA89CBF-9639-F8D6-8A6F-A2801896396C}"/>
              </a:ext>
            </a:extLst>
          </p:cNvPr>
          <p:cNvSpPr>
            <a:spLocks noGrp="1"/>
          </p:cNvSpPr>
          <p:nvPr/>
        </p:nvSpPr>
        <p:spPr>
          <a:xfrm>
            <a:off x="690368" y="3030680"/>
            <a:ext cx="47625" cy="914400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DF540FB-A01C-1C71-910D-2739F0DF09B1}"/>
              </a:ext>
            </a:extLst>
          </p:cNvPr>
          <p:cNvSpPr>
            <a:spLocks noGrp="1"/>
          </p:cNvSpPr>
          <p:nvPr/>
        </p:nvSpPr>
        <p:spPr>
          <a:xfrm>
            <a:off x="899918" y="3202130"/>
            <a:ext cx="501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000" lnSpcReduction="20000"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可追溯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98426F7-E523-60A2-518E-66A23F3304D9}"/>
              </a:ext>
            </a:extLst>
          </p:cNvPr>
          <p:cNvSpPr>
            <a:spLocks noGrp="1"/>
          </p:cNvSpPr>
          <p:nvPr/>
        </p:nvSpPr>
        <p:spPr>
          <a:xfrm>
            <a:off x="899918" y="3545030"/>
            <a:ext cx="501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696" lnSpcReduction="10000"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章节信源、论点卡和 evidence_id 让每个结论都能回到原始链接。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BACCE64A-243A-FCA4-17CC-5DA52BE8D80D}"/>
              </a:ext>
            </a:extLst>
          </p:cNvPr>
          <p:cNvSpPr>
            <a:spLocks noGrp="1"/>
          </p:cNvSpPr>
          <p:nvPr/>
        </p:nvSpPr>
        <p:spPr>
          <a:xfrm>
            <a:off x="690368" y="4154630"/>
            <a:ext cx="54292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449B71B-775C-14AB-5815-7F23B7BE72C5}"/>
              </a:ext>
            </a:extLst>
          </p:cNvPr>
          <p:cNvSpPr>
            <a:spLocks noGrp="1"/>
          </p:cNvSpPr>
          <p:nvPr/>
        </p:nvSpPr>
        <p:spPr>
          <a:xfrm>
            <a:off x="690368" y="4154630"/>
            <a:ext cx="47625" cy="914400"/>
          </a:xfrm>
          <a:prstGeom prst="rect">
            <a:avLst/>
          </a:prstGeom>
          <a:solidFill>
            <a:srgbClr val="6B8FA8"/>
          </a:solidFill>
          <a:ln w="0">
            <a:noFill/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6C51AA97-DE96-AA90-2749-A3393654F91B}"/>
              </a:ext>
            </a:extLst>
          </p:cNvPr>
          <p:cNvSpPr>
            <a:spLocks noGrp="1"/>
          </p:cNvSpPr>
          <p:nvPr/>
        </p:nvSpPr>
        <p:spPr>
          <a:xfrm>
            <a:off x="899918" y="4326080"/>
            <a:ext cx="501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000" lnSpcReduction="20000"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可编辑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54D18DB-2746-74F0-7056-D3721556C5B8}"/>
              </a:ext>
            </a:extLst>
          </p:cNvPr>
          <p:cNvSpPr>
            <a:spLocks noGrp="1"/>
          </p:cNvSpPr>
          <p:nvPr/>
        </p:nvSpPr>
        <p:spPr>
          <a:xfrm>
            <a:off x="899918" y="4668980"/>
            <a:ext cx="501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3909" lnSpcReduction="10000"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报告正文支持编辑、批注、按批注深化章节，保留人工介入入口。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5D174895-480D-A30F-B025-1660368D7664}"/>
              </a:ext>
            </a:extLst>
          </p:cNvPr>
          <p:cNvSpPr>
            <a:spLocks noGrp="1"/>
          </p:cNvSpPr>
          <p:nvPr/>
        </p:nvSpPr>
        <p:spPr>
          <a:xfrm>
            <a:off x="690368" y="5278580"/>
            <a:ext cx="54292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F825229-A2D3-F17E-25C5-3F5E395ECF5D}"/>
              </a:ext>
            </a:extLst>
          </p:cNvPr>
          <p:cNvSpPr>
            <a:spLocks noGrp="1"/>
          </p:cNvSpPr>
          <p:nvPr/>
        </p:nvSpPr>
        <p:spPr>
          <a:xfrm>
            <a:off x="690368" y="5278580"/>
            <a:ext cx="47625" cy="914400"/>
          </a:xfrm>
          <a:prstGeom prst="rect">
            <a:avLst/>
          </a:prstGeom>
          <a:solidFill>
            <a:srgbClr val="D9B46C"/>
          </a:solidFill>
          <a:ln w="0">
            <a:noFill/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53BB148-7EFD-F55E-0188-3F5EFA0AE4A2}"/>
              </a:ext>
            </a:extLst>
          </p:cNvPr>
          <p:cNvSpPr>
            <a:spLocks noGrp="1"/>
          </p:cNvSpPr>
          <p:nvPr/>
        </p:nvSpPr>
        <p:spPr>
          <a:xfrm>
            <a:off x="899918" y="5450030"/>
            <a:ext cx="501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000" lnSpcReduction="20000"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可复用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D51EED6-A2D3-0C77-7268-7B5A91EAD09C}"/>
              </a:ext>
            </a:extLst>
          </p:cNvPr>
          <p:cNvSpPr>
            <a:spLocks noGrp="1"/>
          </p:cNvSpPr>
          <p:nvPr/>
        </p:nvSpPr>
        <p:spPr>
          <a:xfrm>
            <a:off x="899918" y="5792930"/>
            <a:ext cx="501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5979" lnSpcReduction="10000"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关键结论、证据、配图和术语表可进入知识库，后续报告继续调用。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31D0F26D-6CB8-380E-5F18-5A1287693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" r="105"/>
          <a:stretch/>
        </p:blipFill>
        <p:spPr>
          <a:xfrm>
            <a:off x="6180678" y="3040578"/>
            <a:ext cx="6057919" cy="36946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388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6A0CD22-20FC-4A17-93C0-B4315B85B218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9808" lnSpcReduction="10000"/>
          </a:bodyPr>
          <a:lstStyle/>
          <a:p>
            <a:pPr algn="l">
              <a:def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1" dirty="0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975" b="1" dirty="0">
              <a:solidFill>
                <a:srgbClr val="315C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475C6AE-68EE-4E4B-8DAA-8961993EA89D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723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2925" b="1">
                <a:solidFill>
                  <a:srgbClr val="25312A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25312A"/>
                </a:solidFill>
                <a:latin typeface="Songti SC"/>
                <a:ea typeface="Songti SC"/>
                <a:cs typeface="Songti SC"/>
              </a:rPr>
              <a:t>结论必须挂证据，证据也要打分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353508-43A5-4CD1-B15F-CFADB39ED18C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5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系统把来源类型、发布时间、抓取质量和域名权威性合成 0–100 的可信度分数。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E81CFA-5449-4C97-8556-3EB683DAC9BE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895350" cy="28575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753D2237-868A-4104-85ED-A513FBF25E4F}"/>
              </a:ext>
            </a:extLst>
          </p:cNvPr>
          <p:cNvSpPr>
            <a:spLocks noGrp="1"/>
          </p:cNvSpPr>
          <p:nvPr/>
        </p:nvSpPr>
        <p:spPr>
          <a:xfrm>
            <a:off x="800100" y="1847850"/>
            <a:ext cx="54292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D39EE84-91BD-41F6-991C-99B6BB2A5C97}"/>
              </a:ext>
            </a:extLst>
          </p:cNvPr>
          <p:cNvSpPr>
            <a:spLocks noGrp="1"/>
          </p:cNvSpPr>
          <p:nvPr/>
        </p:nvSpPr>
        <p:spPr>
          <a:xfrm>
            <a:off x="800100" y="1847850"/>
            <a:ext cx="47625" cy="914400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8757CD-EEF7-42FC-850B-C6E9F7A01598}"/>
              </a:ext>
            </a:extLst>
          </p:cNvPr>
          <p:cNvSpPr>
            <a:spLocks noGrp="1"/>
          </p:cNvSpPr>
          <p:nvPr/>
        </p:nvSpPr>
        <p:spPr>
          <a:xfrm>
            <a:off x="1009650" y="2019300"/>
            <a:ext cx="501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000" lnSpcReduction="20000"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来源分级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742C7DE-F3D9-4FA2-B663-CF6AE8F19CE6}"/>
              </a:ext>
            </a:extLst>
          </p:cNvPr>
          <p:cNvSpPr>
            <a:spLocks noGrp="1"/>
          </p:cNvSpPr>
          <p:nvPr/>
        </p:nvSpPr>
        <p:spPr>
          <a:xfrm>
            <a:off x="1009650" y="2362200"/>
            <a:ext cx="501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696" lnSpcReduction="10000"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官网、财报、新闻、知乎、B站、微博、小红书、抖音有不同基准分。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F1FA24C-3D5E-4C3A-A192-CCCB936B8931}"/>
              </a:ext>
            </a:extLst>
          </p:cNvPr>
          <p:cNvSpPr>
            <a:spLocks noGrp="1"/>
          </p:cNvSpPr>
          <p:nvPr/>
        </p:nvSpPr>
        <p:spPr>
          <a:xfrm>
            <a:off x="800100" y="2971800"/>
            <a:ext cx="54292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CB517E-936C-409E-B9C7-6F057F824017}"/>
              </a:ext>
            </a:extLst>
          </p:cNvPr>
          <p:cNvSpPr>
            <a:spLocks noGrp="1"/>
          </p:cNvSpPr>
          <p:nvPr/>
        </p:nvSpPr>
        <p:spPr>
          <a:xfrm>
            <a:off x="800100" y="2971800"/>
            <a:ext cx="47625" cy="914400"/>
          </a:xfrm>
          <a:prstGeom prst="rect">
            <a:avLst/>
          </a:prstGeom>
          <a:solidFill>
            <a:srgbClr val="6B8FA8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26AC40-36F4-4E8E-8FA1-64471758541A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501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000" lnSpcReduction="20000"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质量校验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5B7B4B-A9DE-4910-8BA4-1CDF10C12DB2}"/>
              </a:ext>
            </a:extLst>
          </p:cNvPr>
          <p:cNvSpPr>
            <a:spLocks noGrp="1"/>
          </p:cNvSpPr>
          <p:nvPr/>
        </p:nvSpPr>
        <p:spPr>
          <a:xfrm>
            <a:off x="1009650" y="3486150"/>
            <a:ext cx="501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6409"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有发布日期、正文抓取成功、摘录足够长会加分；仅 snippet 或乱码会降分。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30F23EC9-C7B2-455E-8FDE-311265770A23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54292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22DDD8D-CADC-478B-9F7A-E2FBBBBD6E82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47625" cy="914400"/>
          </a:xfrm>
          <a:prstGeom prst="rect">
            <a:avLst/>
          </a:prstGeom>
          <a:solidFill>
            <a:srgbClr val="D9B46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9BED4D3-0E73-4ABC-A259-1C8165D52F88}"/>
              </a:ext>
            </a:extLst>
          </p:cNvPr>
          <p:cNvSpPr>
            <a:spLocks noGrp="1"/>
          </p:cNvSpPr>
          <p:nvPr/>
        </p:nvSpPr>
        <p:spPr>
          <a:xfrm>
            <a:off x="1009650" y="4267200"/>
            <a:ext cx="501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000" lnSpcReduction="20000"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报告约束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662BF5A-79DF-497B-A46A-216315D7E4B5}"/>
              </a:ext>
            </a:extLst>
          </p:cNvPr>
          <p:cNvSpPr>
            <a:spLocks noGrp="1"/>
          </p:cNvSpPr>
          <p:nvPr/>
        </p:nvSpPr>
        <p:spPr>
          <a:xfrm>
            <a:off x="1009650" y="4610100"/>
            <a:ext cx="501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8479"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没有证据就不下结论；采不到真实评论时，舆情章会如实说明而不是编造。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B8F14C8-6CB8-46C6-8107-40E120E1D93D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青野 Verda · AI 竞品情报工作台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E808928-18A7-49A2-A384-C179EBDD4B15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1962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r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团队答辩稿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8073605-60F3-C1A6-7F7E-8651A40C9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226" y="0"/>
            <a:ext cx="3588774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圆角矩形 20">
            <a:extLst>
              <a:ext uri="{FF2B5EF4-FFF2-40B4-BE49-F238E27FC236}">
                <a16:creationId xmlns:a16="http://schemas.microsoft.com/office/drawing/2014/main" id="{0E42407E-40BE-A1C3-0FA6-8C57C4BC9095}"/>
              </a:ext>
            </a:extLst>
          </p:cNvPr>
          <p:cNvSpPr>
            <a:spLocks noGrp="1"/>
          </p:cNvSpPr>
          <p:nvPr/>
        </p:nvSpPr>
        <p:spPr>
          <a:xfrm>
            <a:off x="843664" y="5206862"/>
            <a:ext cx="31432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F5F1917-B3F6-37E8-3A02-06D54E847846}"/>
              </a:ext>
            </a:extLst>
          </p:cNvPr>
          <p:cNvSpPr>
            <a:spLocks noGrp="1"/>
          </p:cNvSpPr>
          <p:nvPr/>
        </p:nvSpPr>
        <p:spPr>
          <a:xfrm>
            <a:off x="843664" y="5206862"/>
            <a:ext cx="47625" cy="1219200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C85CC5E-67C5-0A9D-D7FB-1D35F45FE8DA}"/>
              </a:ext>
            </a:extLst>
          </p:cNvPr>
          <p:cNvSpPr>
            <a:spLocks noGrp="1"/>
          </p:cNvSpPr>
          <p:nvPr/>
        </p:nvSpPr>
        <p:spPr>
          <a:xfrm>
            <a:off x="1053214" y="5349737"/>
            <a:ext cx="2724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000" lnSpcReduction="20000"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证据强绑定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EAE39BB-8EE2-4FBF-ACE8-C0118F5DC08A}"/>
              </a:ext>
            </a:extLst>
          </p:cNvPr>
          <p:cNvSpPr>
            <a:spLocks noGrp="1"/>
          </p:cNvSpPr>
          <p:nvPr/>
        </p:nvSpPr>
        <p:spPr>
          <a:xfrm>
            <a:off x="1053214" y="5721212"/>
            <a:ext cx="27241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5021"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结论引用真实 evidence_id；高置信结论要求至少 2 个独立域名支撑。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ABB87D15-C14B-F4A2-087D-6D844E7E3493}"/>
              </a:ext>
            </a:extLst>
          </p:cNvPr>
          <p:cNvSpPr>
            <a:spLocks noGrp="1"/>
          </p:cNvSpPr>
          <p:nvPr/>
        </p:nvSpPr>
        <p:spPr>
          <a:xfrm>
            <a:off x="4329814" y="5206862"/>
            <a:ext cx="31432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0E55A50-AF4D-83BD-4986-7A9AFA04CABC}"/>
              </a:ext>
            </a:extLst>
          </p:cNvPr>
          <p:cNvSpPr>
            <a:spLocks noGrp="1"/>
          </p:cNvSpPr>
          <p:nvPr/>
        </p:nvSpPr>
        <p:spPr>
          <a:xfrm>
            <a:off x="4329814" y="5206862"/>
            <a:ext cx="47625" cy="1219200"/>
          </a:xfrm>
          <a:prstGeom prst="rect">
            <a:avLst/>
          </a:prstGeom>
          <a:solidFill>
            <a:srgbClr val="6B8FA8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1B6924D-28C6-2F05-2538-2E51468C7881}"/>
              </a:ext>
            </a:extLst>
          </p:cNvPr>
          <p:cNvSpPr>
            <a:spLocks noGrp="1"/>
          </p:cNvSpPr>
          <p:nvPr/>
        </p:nvSpPr>
        <p:spPr>
          <a:xfrm>
            <a:off x="4539364" y="5349737"/>
            <a:ext cx="2724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000" lnSpcReduction="20000"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Schema 规整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7A0DE0-A04D-9E8B-87D6-412AC6E1A2D3}"/>
              </a:ext>
            </a:extLst>
          </p:cNvPr>
          <p:cNvSpPr>
            <a:spLocks noGrp="1"/>
          </p:cNvSpPr>
          <p:nvPr/>
        </p:nvSpPr>
        <p:spPr>
          <a:xfrm>
            <a:off x="4539364" y="5721212"/>
            <a:ext cx="27241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9853"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功能树、定价模型、用户画像按固定字段输出，并过滤非法 evidence_id。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E4360E47-3618-71EA-4EE3-BBBC5BC8156F}"/>
              </a:ext>
            </a:extLst>
          </p:cNvPr>
          <p:cNvSpPr>
            <a:spLocks noGrp="1"/>
          </p:cNvSpPr>
          <p:nvPr/>
        </p:nvSpPr>
        <p:spPr>
          <a:xfrm>
            <a:off x="7815964" y="5206862"/>
            <a:ext cx="314325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F6C11D1-AE15-1A11-616E-9C810CD7F22E}"/>
              </a:ext>
            </a:extLst>
          </p:cNvPr>
          <p:cNvSpPr>
            <a:spLocks noGrp="1"/>
          </p:cNvSpPr>
          <p:nvPr/>
        </p:nvSpPr>
        <p:spPr>
          <a:xfrm>
            <a:off x="7815964" y="5206862"/>
            <a:ext cx="47625" cy="1219200"/>
          </a:xfrm>
          <a:prstGeom prst="rect">
            <a:avLst/>
          </a:prstGeom>
          <a:solidFill>
            <a:srgbClr val="D9B46C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7D456C8-C869-E97C-DBCB-99D8263A4424}"/>
              </a:ext>
            </a:extLst>
          </p:cNvPr>
          <p:cNvSpPr>
            <a:spLocks noGrp="1"/>
          </p:cNvSpPr>
          <p:nvPr/>
        </p:nvSpPr>
        <p:spPr>
          <a:xfrm>
            <a:off x="8025514" y="5378312"/>
            <a:ext cx="2724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000" lnSpcReduction="20000"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Trace 可追溯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21B5F1-E8C0-D916-131F-C6663C9A4963}"/>
              </a:ext>
            </a:extLst>
          </p:cNvPr>
          <p:cNvSpPr>
            <a:spLocks noGrp="1"/>
          </p:cNvSpPr>
          <p:nvPr/>
        </p:nvSpPr>
        <p:spPr>
          <a:xfrm>
            <a:off x="8025514" y="5721212"/>
            <a:ext cx="27241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9853"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记录模型、输入摘要、输出摘要、Token、耗时和节点状态，支持过程复盘。</a:t>
            </a:r>
          </a:p>
        </p:txBody>
      </p:sp>
    </p:spTree>
    <p:extLst>
      <p:ext uri="{BB962C8B-B14F-4D97-AF65-F5344CB8AC3E}">
        <p14:creationId xmlns:p14="http://schemas.microsoft.com/office/powerpoint/2010/main" val="3423813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1BB641B-AD38-4B88-B1EA-FEBE4B8CB7DF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9808" lnSpcReduction="10000"/>
          </a:bodyPr>
          <a:lstStyle/>
          <a:p>
            <a:pPr algn="l">
              <a:def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dirty="0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altLang="zh-CN" sz="975" b="1" dirty="0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8</a:t>
            </a:r>
            <a:endParaRPr sz="975" b="1" dirty="0">
              <a:solidFill>
                <a:srgbClr val="315C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CD0089-CAB7-4FE7-BE80-EEAE08186D51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723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2925" b="1">
                <a:solidFill>
                  <a:srgbClr val="25312A"/>
                </a:solidFill>
                <a:latin typeface="Songti SC"/>
                <a:ea typeface="Songti SC"/>
                <a:cs typeface="Songti SC"/>
              </a:defRPr>
            </a:pPr>
            <a:r>
              <a:rPr sz="2925" b="1" dirty="0" err="1">
                <a:solidFill>
                  <a:srgbClr val="25312A"/>
                </a:solidFill>
                <a:latin typeface="Songti SC"/>
                <a:ea typeface="Songti SC"/>
                <a:cs typeface="Songti SC"/>
              </a:rPr>
              <a:t>从提问到报告的完整产品闭环</a:t>
            </a:r>
            <a:endParaRPr sz="2925" b="1" dirty="0">
              <a:solidFill>
                <a:srgbClr val="25312A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DD0C02-2FBE-4816-A9D6-8E44AFC208E1}"/>
              </a:ext>
            </a:extLst>
          </p:cNvPr>
          <p:cNvSpPr>
            <a:spLocks noGrp="1"/>
          </p:cNvSpPr>
          <p:nvPr/>
        </p:nvSpPr>
        <p:spPr>
          <a:xfrm>
            <a:off x="609599" y="1219200"/>
            <a:ext cx="8690811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1447"/>
          </a:bodyPr>
          <a:lstStyle/>
          <a:p>
            <a:pPr algn="l">
              <a:defRPr sz="15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用户确认调研对象和视角后，系统自动组队、联网取证、生成报告，并把证据与</a:t>
            </a:r>
            <a:r>
              <a:rPr sz="15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 Trace </a:t>
            </a:r>
            <a:r>
              <a:rPr sz="15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沉淀为可复用资产</a:t>
            </a:r>
            <a:r>
              <a:rPr sz="15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3249830-618A-430D-8DA2-EE2B25BFFEE1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895350" cy="28575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83CE854F-4F82-422C-A0B5-96AE66E1E242}"/>
              </a:ext>
            </a:extLst>
          </p:cNvPr>
          <p:cNvSpPr>
            <a:spLocks noGrp="1"/>
          </p:cNvSpPr>
          <p:nvPr/>
        </p:nvSpPr>
        <p:spPr>
          <a:xfrm>
            <a:off x="609599" y="2095500"/>
            <a:ext cx="3429000" cy="100965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53AA76C-36B0-4DB3-82C1-769CB545C965}"/>
              </a:ext>
            </a:extLst>
          </p:cNvPr>
          <p:cNvSpPr>
            <a:spLocks noGrp="1"/>
          </p:cNvSpPr>
          <p:nvPr/>
        </p:nvSpPr>
        <p:spPr>
          <a:xfrm>
            <a:off x="609599" y="2095500"/>
            <a:ext cx="47625" cy="1009650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E608D2-E313-4052-A398-13BADF0EDCCD}"/>
              </a:ext>
            </a:extLst>
          </p:cNvPr>
          <p:cNvSpPr>
            <a:spLocks noGrp="1"/>
          </p:cNvSpPr>
          <p:nvPr/>
        </p:nvSpPr>
        <p:spPr>
          <a:xfrm>
            <a:off x="819149" y="2266950"/>
            <a:ext cx="3009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输入可控</a:t>
            </a:r>
            <a:endParaRPr sz="1400" b="1" dirty="0">
              <a:solidFill>
                <a:srgbClr val="2531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D4699F-BF35-4361-B1DD-8740C18A1149}"/>
              </a:ext>
            </a:extLst>
          </p:cNvPr>
          <p:cNvSpPr>
            <a:spLocks noGrp="1"/>
          </p:cNvSpPr>
          <p:nvPr/>
        </p:nvSpPr>
        <p:spPr>
          <a:xfrm>
            <a:off x="819149" y="2609850"/>
            <a:ext cx="3009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先确认产品、竞品、视角和调研深度，降低跑题风险</a:t>
            </a:r>
            <a:r>
              <a:rPr sz="1200" b="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89F66DCE-DE2B-444F-A167-D49CC9519701}"/>
              </a:ext>
            </a:extLst>
          </p:cNvPr>
          <p:cNvSpPr>
            <a:spLocks noGrp="1"/>
          </p:cNvSpPr>
          <p:nvPr/>
        </p:nvSpPr>
        <p:spPr>
          <a:xfrm>
            <a:off x="609599" y="3352800"/>
            <a:ext cx="3429000" cy="100965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4BBB268-7D59-4904-8041-B8AABAA9CF2E}"/>
              </a:ext>
            </a:extLst>
          </p:cNvPr>
          <p:cNvSpPr>
            <a:spLocks noGrp="1"/>
          </p:cNvSpPr>
          <p:nvPr/>
        </p:nvSpPr>
        <p:spPr>
          <a:xfrm>
            <a:off x="609599" y="3352800"/>
            <a:ext cx="47625" cy="1009650"/>
          </a:xfrm>
          <a:prstGeom prst="rect">
            <a:avLst/>
          </a:prstGeom>
          <a:solidFill>
            <a:srgbClr val="6B8FA8"/>
          </a:solidFill>
          <a:ln w="0">
            <a:noFill/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B6CE1FC-E6C1-4FB9-86E5-EA0DD148A1C1}"/>
              </a:ext>
            </a:extLst>
          </p:cNvPr>
          <p:cNvSpPr>
            <a:spLocks noGrp="1"/>
          </p:cNvSpPr>
          <p:nvPr/>
        </p:nvSpPr>
        <p:spPr>
          <a:xfrm>
            <a:off x="819149" y="3524250"/>
            <a:ext cx="3009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过程可见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765B12-66F1-4DCB-9385-A8C944ECCA59}"/>
              </a:ext>
            </a:extLst>
          </p:cNvPr>
          <p:cNvSpPr>
            <a:spLocks noGrp="1"/>
          </p:cNvSpPr>
          <p:nvPr/>
        </p:nvSpPr>
        <p:spPr>
          <a:xfrm>
            <a:off x="819149" y="3867150"/>
            <a:ext cx="3009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SSE 推送节点、专家动作、证据和 Trace，评委能看到系统如何工作。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9CB5815A-93B8-4EC6-B173-407E0C74DD1B}"/>
              </a:ext>
            </a:extLst>
          </p:cNvPr>
          <p:cNvSpPr>
            <a:spLocks noGrp="1"/>
          </p:cNvSpPr>
          <p:nvPr/>
        </p:nvSpPr>
        <p:spPr>
          <a:xfrm>
            <a:off x="609599" y="4610100"/>
            <a:ext cx="3429000" cy="100965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4814601-D2DA-408F-B39F-2681C37F22B2}"/>
              </a:ext>
            </a:extLst>
          </p:cNvPr>
          <p:cNvSpPr>
            <a:spLocks noGrp="1"/>
          </p:cNvSpPr>
          <p:nvPr/>
        </p:nvSpPr>
        <p:spPr>
          <a:xfrm>
            <a:off x="609599" y="4610100"/>
            <a:ext cx="47625" cy="1009650"/>
          </a:xfrm>
          <a:prstGeom prst="rect">
            <a:avLst/>
          </a:prstGeom>
          <a:solidFill>
            <a:srgbClr val="D9B46C"/>
          </a:solidFill>
          <a:ln w="0">
            <a:noFill/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0809F5F-E24F-4B5B-9A3C-5A5CD8972AA4}"/>
              </a:ext>
            </a:extLst>
          </p:cNvPr>
          <p:cNvSpPr>
            <a:spLocks noGrp="1"/>
          </p:cNvSpPr>
          <p:nvPr/>
        </p:nvSpPr>
        <p:spPr>
          <a:xfrm>
            <a:off x="819149" y="4781550"/>
            <a:ext cx="3009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结果可追溯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B4C2D0F-FA72-4812-9721-C54AB75C7ABE}"/>
              </a:ext>
            </a:extLst>
          </p:cNvPr>
          <p:cNvSpPr>
            <a:spLocks noGrp="1"/>
          </p:cNvSpPr>
          <p:nvPr/>
        </p:nvSpPr>
        <p:spPr>
          <a:xfrm>
            <a:off x="819149" y="5124450"/>
            <a:ext cx="3009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报告结论绑定 evidence_id，证据进入全局库和知识图谱。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3AB92DA-75BB-477D-B30D-45AC1553D3E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青野 Verda · AI 竞品情报工作台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796D30D-B04D-436D-82E2-7F0F62523B21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1962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r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团队答辩稿</a:t>
            </a:r>
            <a:endParaRPr sz="750" b="0" dirty="0">
              <a:solidFill>
                <a:srgbClr val="65705F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78C30D40-3FA0-9DB1-A207-A5173DD21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0445" y="1527445"/>
            <a:ext cx="2942747" cy="33132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04EFC128-3352-7152-95B1-A4F554797A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51529"/>
            <a:ext cx="5596594" cy="31790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33A1C142-24E6-EBEF-9BF7-16BE1F691D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90974" y="4363746"/>
            <a:ext cx="4075572" cy="2628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9089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FF74DB-83BA-44DC-BD85-03B596060727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9808" lnSpcReduction="10000"/>
          </a:bodyPr>
          <a:lstStyle/>
          <a:p>
            <a:pPr algn="l">
              <a:def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dirty="0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en-US" altLang="zh-CN" sz="975" b="1" dirty="0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9</a:t>
            </a:r>
            <a:endParaRPr sz="975" b="1" dirty="0">
              <a:solidFill>
                <a:srgbClr val="315C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DC6658-C6FB-46BC-879A-CA5550CF365C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723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>
              <a:defRPr sz="2925" b="1">
                <a:solidFill>
                  <a:srgbClr val="25312A"/>
                </a:solidFill>
                <a:latin typeface="Songti SC"/>
                <a:ea typeface="Songti SC"/>
                <a:cs typeface="Songti SC"/>
              </a:defRPr>
            </a:pPr>
            <a:r>
              <a:rPr lang="zh-CN" altLang="en-US" sz="2925" b="1" dirty="0">
                <a:solidFill>
                  <a:srgbClr val="25312A"/>
                </a:solidFill>
                <a:latin typeface="Songti SC"/>
                <a:ea typeface="Songti SC"/>
                <a:cs typeface="Songti SC"/>
              </a:rPr>
              <a:t>竞争情报中心： </a:t>
            </a:r>
            <a:r>
              <a:rPr sz="2925" b="1" dirty="0" err="1">
                <a:solidFill>
                  <a:srgbClr val="25312A"/>
                </a:solidFill>
                <a:latin typeface="Songti SC"/>
                <a:ea typeface="Songti SC"/>
                <a:cs typeface="Songti SC"/>
              </a:rPr>
              <a:t>从问题到情报资产</a:t>
            </a:r>
            <a:endParaRPr sz="2925" b="1" dirty="0">
              <a:solidFill>
                <a:srgbClr val="25312A"/>
              </a:solidFill>
              <a:latin typeface="Songti SC"/>
              <a:ea typeface="Songti SC"/>
              <a:cs typeface="Songti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1797A7-1F9C-4826-BB7A-E3E84A3515EC}"/>
              </a:ext>
            </a:extLst>
          </p:cNvPr>
          <p:cNvSpPr>
            <a:spLocks noGrp="1"/>
          </p:cNvSpPr>
          <p:nvPr/>
        </p:nvSpPr>
        <p:spPr>
          <a:xfrm>
            <a:off x="609600" y="1112370"/>
            <a:ext cx="10495722" cy="5640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5032"/>
          </a:bodyPr>
          <a:lstStyle/>
          <a:p>
            <a:pPr>
              <a:defRPr sz="15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一次竞品调研会</a:t>
            </a:r>
            <a:r>
              <a:rPr lang="zh-CN" altLang="en-US" sz="1500" dirty="0">
                <a:solidFill>
                  <a:srgbClr val="65705F"/>
                </a:solidFill>
                <a:latin typeface="Microsoft YaHei"/>
                <a:ea typeface="Microsoft YaHei"/>
              </a:rPr>
              <a:t>报告不只是静态文档，还会产出结构化知识。让报告从</a:t>
            </a:r>
            <a:r>
              <a:rPr lang="zh-CN" altLang="en-US" sz="150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“读完就结束”变成可检索、可比较、可复盘、可继续运营的情报资产。</a:t>
            </a:r>
          </a:p>
          <a:p>
            <a:pPr>
              <a:defRPr sz="15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endParaRPr lang="zh-CN" altLang="en-US" sz="1200" dirty="0">
              <a:solidFill>
                <a:srgbClr val="65705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5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endParaRPr sz="1200" b="0" dirty="0">
              <a:solidFill>
                <a:srgbClr val="65705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582D16-EE95-4F5E-9ECC-BB769FA7509F}"/>
              </a:ext>
            </a:extLst>
          </p:cNvPr>
          <p:cNvSpPr>
            <a:spLocks noGrp="1"/>
          </p:cNvSpPr>
          <p:nvPr/>
        </p:nvSpPr>
        <p:spPr>
          <a:xfrm>
            <a:off x="609600" y="1579707"/>
            <a:ext cx="895350" cy="28575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F17699-604B-44BB-9A4B-8A5E935EE334}"/>
              </a:ext>
            </a:extLst>
          </p:cNvPr>
          <p:cNvSpPr>
            <a:spLocks noGrp="1"/>
          </p:cNvSpPr>
          <p:nvPr/>
        </p:nvSpPr>
        <p:spPr>
          <a:xfrm>
            <a:off x="933449" y="5952858"/>
            <a:ext cx="11073021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8167"/>
          </a:bodyPr>
          <a:lstStyle/>
          <a:p>
            <a:pPr algn="l">
              <a:defRPr sz="1875" b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完整路径：需求输入 → 澄清产品/竞品/视角 → 专家组队 → 多源取证 → 报告生成 → 竞争情报中心复用。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CF4515E-A346-472F-97C0-BB34F024B69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青野 Verda · AI 竞品情报工作台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B033E9D-F7C4-417A-9152-E2877F6399FA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1962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r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团队答辩稿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ED6A501F-D7C5-EE11-4728-01F3FE9A5435}"/>
              </a:ext>
            </a:extLst>
          </p:cNvPr>
          <p:cNvSpPr>
            <a:spLocks noGrp="1"/>
          </p:cNvSpPr>
          <p:nvPr/>
        </p:nvSpPr>
        <p:spPr>
          <a:xfrm>
            <a:off x="575886" y="1676400"/>
            <a:ext cx="1530741" cy="87432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D37886-4070-DE99-A142-72B00EC96ADB}"/>
              </a:ext>
            </a:extLst>
          </p:cNvPr>
          <p:cNvSpPr>
            <a:spLocks noGrp="1"/>
          </p:cNvSpPr>
          <p:nvPr/>
        </p:nvSpPr>
        <p:spPr>
          <a:xfrm>
            <a:off x="690186" y="1828800"/>
            <a:ext cx="1177493" cy="2690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报告库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B3E8881-8126-82A8-6011-72922C5F5479}"/>
              </a:ext>
            </a:extLst>
          </p:cNvPr>
          <p:cNvSpPr>
            <a:spLocks noGrp="1"/>
          </p:cNvSpPr>
          <p:nvPr/>
        </p:nvSpPr>
        <p:spPr>
          <a:xfrm>
            <a:off x="690186" y="2114550"/>
            <a:ext cx="1177493" cy="2466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309" lnSpcReduction="10000"/>
          </a:bodyPr>
          <a:lstStyle/>
          <a:p>
            <a:pPr algn="ctr">
              <a:defRPr sz="10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历史调研沉淀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9FD51BD-1FB6-A0C1-C966-02A26518A96F}"/>
              </a:ext>
            </a:extLst>
          </p:cNvPr>
          <p:cNvSpPr>
            <a:spLocks noGrp="1"/>
          </p:cNvSpPr>
          <p:nvPr/>
        </p:nvSpPr>
        <p:spPr>
          <a:xfrm>
            <a:off x="2231098" y="1885949"/>
            <a:ext cx="529872" cy="381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519"/>
          </a:bodyPr>
          <a:lstStyle/>
          <a:p>
            <a:pPr algn="l">
              <a:defRPr sz="1800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 dirty="0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93A735D8-62BA-1C11-5ABD-934A56A1BE86}"/>
              </a:ext>
            </a:extLst>
          </p:cNvPr>
          <p:cNvSpPr>
            <a:spLocks noGrp="1"/>
          </p:cNvSpPr>
          <p:nvPr/>
        </p:nvSpPr>
        <p:spPr>
          <a:xfrm>
            <a:off x="2760970" y="1676400"/>
            <a:ext cx="1530741" cy="87432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B0E4DD2-D327-D7AA-EBB1-8D9283223D7A}"/>
              </a:ext>
            </a:extLst>
          </p:cNvPr>
          <p:cNvSpPr>
            <a:spLocks noGrp="1"/>
          </p:cNvSpPr>
          <p:nvPr/>
        </p:nvSpPr>
        <p:spPr>
          <a:xfrm>
            <a:off x="2875270" y="1828800"/>
            <a:ext cx="1177493" cy="2690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证据库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967C9AB-3EA4-0FE2-B529-E22D38D1C173}"/>
              </a:ext>
            </a:extLst>
          </p:cNvPr>
          <p:cNvSpPr>
            <a:spLocks noGrp="1"/>
          </p:cNvSpPr>
          <p:nvPr/>
        </p:nvSpPr>
        <p:spPr>
          <a:xfrm>
            <a:off x="2875270" y="2114550"/>
            <a:ext cx="1177493" cy="2466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URL 与摘录可查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535F5B2-978B-0B14-742C-485BC585006B}"/>
              </a:ext>
            </a:extLst>
          </p:cNvPr>
          <p:cNvSpPr>
            <a:spLocks noGrp="1"/>
          </p:cNvSpPr>
          <p:nvPr/>
        </p:nvSpPr>
        <p:spPr>
          <a:xfrm>
            <a:off x="4513765" y="1885949"/>
            <a:ext cx="529872" cy="381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519"/>
          </a:bodyPr>
          <a:lstStyle/>
          <a:p>
            <a:pPr algn="l">
              <a:defRPr sz="1800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 dirty="0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3DAB1278-9678-DF94-DD86-EA123060D90C}"/>
              </a:ext>
            </a:extLst>
          </p:cNvPr>
          <p:cNvSpPr>
            <a:spLocks noGrp="1"/>
          </p:cNvSpPr>
          <p:nvPr/>
        </p:nvSpPr>
        <p:spPr>
          <a:xfrm>
            <a:off x="4991100" y="1676400"/>
            <a:ext cx="1530741" cy="87432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ECBBD93-8D83-A34E-61AC-E5847E801913}"/>
              </a:ext>
            </a:extLst>
          </p:cNvPr>
          <p:cNvSpPr>
            <a:spLocks noGrp="1"/>
          </p:cNvSpPr>
          <p:nvPr/>
        </p:nvSpPr>
        <p:spPr>
          <a:xfrm>
            <a:off x="5105400" y="1828800"/>
            <a:ext cx="1177493" cy="2690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知识图谱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21CF553-A8F6-3727-A2CB-40C2B759F5D5}"/>
              </a:ext>
            </a:extLst>
          </p:cNvPr>
          <p:cNvSpPr>
            <a:spLocks noGrp="1"/>
          </p:cNvSpPr>
          <p:nvPr/>
        </p:nvSpPr>
        <p:spPr>
          <a:xfrm>
            <a:off x="5105400" y="2114550"/>
            <a:ext cx="1177493" cy="2466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结论关系可视化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A099A5C-29C3-B197-3B33-7BC7E23C7E10}"/>
              </a:ext>
            </a:extLst>
          </p:cNvPr>
          <p:cNvSpPr>
            <a:spLocks noGrp="1"/>
          </p:cNvSpPr>
          <p:nvPr/>
        </p:nvSpPr>
        <p:spPr>
          <a:xfrm>
            <a:off x="6596064" y="1885949"/>
            <a:ext cx="592435" cy="381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519"/>
          </a:bodyPr>
          <a:lstStyle/>
          <a:p>
            <a:pPr algn="l">
              <a:defRPr sz="1800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 dirty="0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AAFF9E9A-F595-BFC5-B263-6BE3E459B0F8}"/>
              </a:ext>
            </a:extLst>
          </p:cNvPr>
          <p:cNvSpPr>
            <a:spLocks noGrp="1"/>
          </p:cNvSpPr>
          <p:nvPr/>
        </p:nvSpPr>
        <p:spPr>
          <a:xfrm>
            <a:off x="7049150" y="1676400"/>
            <a:ext cx="1530741" cy="87432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218B410-51D1-E53C-8768-14BAA002205C}"/>
              </a:ext>
            </a:extLst>
          </p:cNvPr>
          <p:cNvSpPr>
            <a:spLocks noGrp="1"/>
          </p:cNvSpPr>
          <p:nvPr/>
        </p:nvSpPr>
        <p:spPr>
          <a:xfrm>
            <a:off x="7163450" y="1828800"/>
            <a:ext cx="1177493" cy="2690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Trace 回放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30FFD74-20E2-FA9E-57A9-8158329D3B6A}"/>
              </a:ext>
            </a:extLst>
          </p:cNvPr>
          <p:cNvSpPr>
            <a:spLocks noGrp="1"/>
          </p:cNvSpPr>
          <p:nvPr/>
        </p:nvSpPr>
        <p:spPr>
          <a:xfrm>
            <a:off x="7163450" y="2114550"/>
            <a:ext cx="1177493" cy="2466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0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Agent 过程可追踪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2F0384B-4E95-DE4E-9AF9-98FB8BD6A25B}"/>
              </a:ext>
            </a:extLst>
          </p:cNvPr>
          <p:cNvSpPr>
            <a:spLocks noGrp="1"/>
          </p:cNvSpPr>
          <p:nvPr/>
        </p:nvSpPr>
        <p:spPr>
          <a:xfrm>
            <a:off x="8606780" y="1895626"/>
            <a:ext cx="529872" cy="3811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519"/>
          </a:bodyPr>
          <a:lstStyle/>
          <a:p>
            <a:pPr algn="l">
              <a:defRPr sz="1800"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5F8A6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E51DCB08-0D4B-BB78-CE06-6B54D1314287}"/>
              </a:ext>
            </a:extLst>
          </p:cNvPr>
          <p:cNvSpPr>
            <a:spLocks noGrp="1"/>
          </p:cNvSpPr>
          <p:nvPr/>
        </p:nvSpPr>
        <p:spPr>
          <a:xfrm>
            <a:off x="8996364" y="1676400"/>
            <a:ext cx="1530741" cy="87432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1A501C7-9DFD-C47B-905F-DA96A53A771D}"/>
              </a:ext>
            </a:extLst>
          </p:cNvPr>
          <p:cNvSpPr>
            <a:spLocks noGrp="1"/>
          </p:cNvSpPr>
          <p:nvPr/>
        </p:nvSpPr>
        <p:spPr>
          <a:xfrm>
            <a:off x="9110664" y="1828800"/>
            <a:ext cx="1177493" cy="2690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defRPr sz="135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监控订阅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3B84DB8-8A5A-CE1B-53AF-7DF8C887C40F}"/>
              </a:ext>
            </a:extLst>
          </p:cNvPr>
          <p:cNvSpPr>
            <a:spLocks noGrp="1"/>
          </p:cNvSpPr>
          <p:nvPr/>
        </p:nvSpPr>
        <p:spPr>
          <a:xfrm>
            <a:off x="9110664" y="2114550"/>
            <a:ext cx="1177493" cy="2466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309" lnSpcReduction="10000"/>
          </a:bodyPr>
          <a:lstStyle/>
          <a:p>
            <a:pPr algn="ctr">
              <a:defRPr sz="10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持续更新竞品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F06F076-DD5C-FD22-E4A5-4B9E16EB161B}"/>
              </a:ext>
            </a:extLst>
          </p:cNvPr>
          <p:cNvSpPr>
            <a:spLocks noGrp="1"/>
          </p:cNvSpPr>
          <p:nvPr/>
        </p:nvSpPr>
        <p:spPr>
          <a:xfrm>
            <a:off x="8398038" y="935103"/>
            <a:ext cx="3157983" cy="945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9314"/>
          </a:bodyPr>
          <a:lstStyle/>
          <a:p>
            <a:pPr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600" dirty="0">
              <a:solidFill>
                <a:srgbClr val="65705F"/>
              </a:solidFill>
              <a:latin typeface="Microsoft YaHei"/>
              <a:ea typeface="Microsoft YaHei"/>
            </a:endParaRPr>
          </a:p>
          <a:p>
            <a:pPr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600" dirty="0">
              <a:solidFill>
                <a:srgbClr val="65705F"/>
              </a:solidFill>
              <a:latin typeface="Microsoft YaHei"/>
              <a:ea typeface="Microsoft YaHei"/>
            </a:endParaRP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FF409DDB-1475-A6B8-5554-FD0F3DDB5BE4}"/>
              </a:ext>
            </a:extLst>
          </p:cNvPr>
          <p:cNvSpPr>
            <a:spLocks noGrp="1"/>
          </p:cNvSpPr>
          <p:nvPr/>
        </p:nvSpPr>
        <p:spPr>
          <a:xfrm>
            <a:off x="617382" y="2647702"/>
            <a:ext cx="54292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89100C9-64C9-EEB2-82F0-D6E1F2958EC8}"/>
              </a:ext>
            </a:extLst>
          </p:cNvPr>
          <p:cNvSpPr>
            <a:spLocks noGrp="1"/>
          </p:cNvSpPr>
          <p:nvPr/>
        </p:nvSpPr>
        <p:spPr>
          <a:xfrm>
            <a:off x="617382" y="2647702"/>
            <a:ext cx="47625" cy="914400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EC0D565-D607-39D0-E613-FBA28A1CE216}"/>
              </a:ext>
            </a:extLst>
          </p:cNvPr>
          <p:cNvSpPr>
            <a:spLocks noGrp="1"/>
          </p:cNvSpPr>
          <p:nvPr/>
        </p:nvSpPr>
        <p:spPr>
          <a:xfrm>
            <a:off x="826932" y="2819152"/>
            <a:ext cx="501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000" lnSpcReduction="20000"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报告资产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F8BF9A5-BDF2-3932-3D96-3DB45B3E8BDF}"/>
              </a:ext>
            </a:extLst>
          </p:cNvPr>
          <p:cNvSpPr>
            <a:spLocks noGrp="1"/>
          </p:cNvSpPr>
          <p:nvPr/>
        </p:nvSpPr>
        <p:spPr>
          <a:xfrm>
            <a:off x="826932" y="3162052"/>
            <a:ext cx="501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0196"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竞争格局、功能对比、定价模型、用户画像、SWOT、舆情和建议统一保存。</a:t>
            </a: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94D32B33-8967-619F-DE7B-B23380D44FB6}"/>
              </a:ext>
            </a:extLst>
          </p:cNvPr>
          <p:cNvSpPr>
            <a:spLocks noGrp="1"/>
          </p:cNvSpPr>
          <p:nvPr/>
        </p:nvSpPr>
        <p:spPr>
          <a:xfrm>
            <a:off x="617382" y="3771652"/>
            <a:ext cx="54292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9BC803C-566B-F486-51A4-ED1ABE358866}"/>
              </a:ext>
            </a:extLst>
          </p:cNvPr>
          <p:cNvSpPr>
            <a:spLocks noGrp="1"/>
          </p:cNvSpPr>
          <p:nvPr/>
        </p:nvSpPr>
        <p:spPr>
          <a:xfrm>
            <a:off x="617382" y="3771652"/>
            <a:ext cx="47625" cy="914400"/>
          </a:xfrm>
          <a:prstGeom prst="rect">
            <a:avLst/>
          </a:prstGeom>
          <a:solidFill>
            <a:srgbClr val="6B8FA8"/>
          </a:solidFill>
          <a:ln w="0">
            <a:noFill/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DA75024-63E4-2477-7484-DC7677F16F11}"/>
              </a:ext>
            </a:extLst>
          </p:cNvPr>
          <p:cNvSpPr>
            <a:spLocks noGrp="1"/>
          </p:cNvSpPr>
          <p:nvPr/>
        </p:nvSpPr>
        <p:spPr>
          <a:xfrm>
            <a:off x="826932" y="3943102"/>
            <a:ext cx="501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000" lnSpcReduction="20000"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证据资产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7D24ABB-CA69-18D3-C50E-A1E2758C3D3F}"/>
              </a:ext>
            </a:extLst>
          </p:cNvPr>
          <p:cNvSpPr>
            <a:spLocks noGrp="1"/>
          </p:cNvSpPr>
          <p:nvPr/>
        </p:nvSpPr>
        <p:spPr>
          <a:xfrm>
            <a:off x="826932" y="4286002"/>
            <a:ext cx="501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909" lnSpcReduction="10000"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官网、新闻、Web、知乎、B站、微博、小红书、抖音等来源都挂 evidence_id。</a:t>
            </a: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88EE1297-2F81-4CE1-A088-200E1F03E958}"/>
              </a:ext>
            </a:extLst>
          </p:cNvPr>
          <p:cNvSpPr>
            <a:spLocks noGrp="1"/>
          </p:cNvSpPr>
          <p:nvPr/>
        </p:nvSpPr>
        <p:spPr>
          <a:xfrm>
            <a:off x="617382" y="4895602"/>
            <a:ext cx="54292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5EDE729-3AE2-40C0-3F7D-A5A91127A526}"/>
              </a:ext>
            </a:extLst>
          </p:cNvPr>
          <p:cNvSpPr>
            <a:spLocks noGrp="1"/>
          </p:cNvSpPr>
          <p:nvPr/>
        </p:nvSpPr>
        <p:spPr>
          <a:xfrm>
            <a:off x="617382" y="4895602"/>
            <a:ext cx="47625" cy="914400"/>
          </a:xfrm>
          <a:prstGeom prst="rect">
            <a:avLst/>
          </a:prstGeom>
          <a:solidFill>
            <a:srgbClr val="D9B46C"/>
          </a:solidFill>
          <a:ln w="0">
            <a:noFill/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CA5F076-188E-8EAB-2E03-4BE7473283DD}"/>
              </a:ext>
            </a:extLst>
          </p:cNvPr>
          <p:cNvSpPr>
            <a:spLocks noGrp="1"/>
          </p:cNvSpPr>
          <p:nvPr/>
        </p:nvSpPr>
        <p:spPr>
          <a:xfrm>
            <a:off x="826932" y="5067052"/>
            <a:ext cx="5010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000" lnSpcReduction="20000"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运营资产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0731EC9-3C07-2FBA-DC8E-7EF78D3D7458}"/>
              </a:ext>
            </a:extLst>
          </p:cNvPr>
          <p:cNvSpPr>
            <a:spLocks noGrp="1"/>
          </p:cNvSpPr>
          <p:nvPr/>
        </p:nvSpPr>
        <p:spPr>
          <a:xfrm>
            <a:off x="826932" y="5409952"/>
            <a:ext cx="501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5979" lnSpcReduction="10000"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订阅、专家工作量、人工修正率和 Trace 为后续迭代提供可衡量指标。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AF3AF01-6EE5-5617-93D6-669B98F6F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226" y="2703122"/>
            <a:ext cx="5559959" cy="30756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1267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9FF74DB-83BA-44DC-BD85-03B596060727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9808" lnSpcReduction="10000"/>
          </a:bodyPr>
          <a:lstStyle/>
          <a:p>
            <a:pPr algn="l">
              <a:def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1" dirty="0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975" b="1" dirty="0">
              <a:solidFill>
                <a:srgbClr val="315C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DC6658-C6FB-46BC-879A-CA5550CF365C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7239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2925" b="1">
                <a:solidFill>
                  <a:srgbClr val="25312A"/>
                </a:solidFill>
                <a:latin typeface="Songti SC"/>
                <a:ea typeface="Songti SC"/>
                <a:cs typeface="Songti SC"/>
              </a:defRPr>
            </a:pPr>
            <a:r>
              <a:rPr sz="2925" b="1">
                <a:solidFill>
                  <a:srgbClr val="25312A"/>
                </a:solidFill>
                <a:latin typeface="Songti SC"/>
                <a:ea typeface="Songti SC"/>
                <a:cs typeface="Songti SC"/>
              </a:rPr>
              <a:t>多源证据覆盖进入正式报告体系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1797A7-1F9C-4826-BB7A-E3E84A3515EC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7532"/>
          </a:bodyPr>
          <a:lstStyle/>
          <a:p>
            <a:pPr algn="l">
              <a:defRPr sz="150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最终库已沉淀官网、新闻、Web 与五类社媒来源；报告引用真实链接，舆情观点也进入证据链。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582D16-EE95-4F5E-9ECC-BB769FA7509F}"/>
              </a:ext>
            </a:extLst>
          </p:cNvPr>
          <p:cNvSpPr>
            <a:spLocks noGrp="1"/>
          </p:cNvSpPr>
          <p:nvPr/>
        </p:nvSpPr>
        <p:spPr>
          <a:xfrm>
            <a:off x="609600" y="1579707"/>
            <a:ext cx="895350" cy="28575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B66E9D07-2C0E-46FB-B0AF-4681FBD341A2}"/>
              </a:ext>
            </a:extLst>
          </p:cNvPr>
          <p:cNvSpPr>
            <a:spLocks noGrp="1"/>
          </p:cNvSpPr>
          <p:nvPr/>
        </p:nvSpPr>
        <p:spPr>
          <a:xfrm>
            <a:off x="800100" y="2290276"/>
            <a:ext cx="20955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FE02A7-FE88-41F9-A157-A04184CD8042}"/>
              </a:ext>
            </a:extLst>
          </p:cNvPr>
          <p:cNvSpPr>
            <a:spLocks noGrp="1"/>
          </p:cNvSpPr>
          <p:nvPr/>
        </p:nvSpPr>
        <p:spPr>
          <a:xfrm>
            <a:off x="971550" y="2461726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096" lnSpcReduction="10000"/>
          </a:bodyPr>
          <a:lstStyle/>
          <a:p>
            <a:pPr algn="l">
              <a:defRPr sz="285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984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AB47DC-23E5-4724-923F-E5EF2A76AA31}"/>
              </a:ext>
            </a:extLst>
          </p:cNvPr>
          <p:cNvSpPr>
            <a:spLocks noGrp="1"/>
          </p:cNvSpPr>
          <p:nvPr/>
        </p:nvSpPr>
        <p:spPr>
          <a:xfrm>
            <a:off x="971550" y="2976076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全部证据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79A89ADD-5EB3-4915-9DE8-26B6492B7E9D}"/>
              </a:ext>
            </a:extLst>
          </p:cNvPr>
          <p:cNvSpPr>
            <a:spLocks noGrp="1"/>
          </p:cNvSpPr>
          <p:nvPr/>
        </p:nvSpPr>
        <p:spPr>
          <a:xfrm>
            <a:off x="3162300" y="2290276"/>
            <a:ext cx="20955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1601689-FA23-443D-B5E0-5BF348857CEB}"/>
              </a:ext>
            </a:extLst>
          </p:cNvPr>
          <p:cNvSpPr>
            <a:spLocks noGrp="1"/>
          </p:cNvSpPr>
          <p:nvPr/>
        </p:nvSpPr>
        <p:spPr>
          <a:xfrm>
            <a:off x="3333750" y="2461726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096" lnSpcReduction="10000"/>
          </a:bodyPr>
          <a:lstStyle/>
          <a:p>
            <a:pPr algn="l">
              <a:defRPr sz="2850" b="1">
                <a:solidFill>
                  <a:srgbClr val="6B8F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6B8FA8"/>
                </a:solidFill>
                <a:latin typeface="Microsoft YaHei"/>
                <a:ea typeface="Microsoft YaHei"/>
                <a:cs typeface="Microsoft YaHei"/>
              </a:rPr>
              <a:t>246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5DB40BE-4B1A-492A-876C-B9C10395C5C8}"/>
              </a:ext>
            </a:extLst>
          </p:cNvPr>
          <p:cNvSpPr>
            <a:spLocks noGrp="1"/>
          </p:cNvSpPr>
          <p:nvPr/>
        </p:nvSpPr>
        <p:spPr>
          <a:xfrm>
            <a:off x="3333750" y="2976076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社媒证据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4EE3FC68-89CD-40E3-A135-B27CD3CA4CA1}"/>
              </a:ext>
            </a:extLst>
          </p:cNvPr>
          <p:cNvSpPr>
            <a:spLocks noGrp="1"/>
          </p:cNvSpPr>
          <p:nvPr/>
        </p:nvSpPr>
        <p:spPr>
          <a:xfrm>
            <a:off x="800100" y="3851680"/>
            <a:ext cx="20955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8D75F34-5359-4A9E-A152-2D7151A5DE56}"/>
              </a:ext>
            </a:extLst>
          </p:cNvPr>
          <p:cNvSpPr>
            <a:spLocks noGrp="1"/>
          </p:cNvSpPr>
          <p:nvPr/>
        </p:nvSpPr>
        <p:spPr>
          <a:xfrm>
            <a:off x="971550" y="4023130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096" lnSpcReduction="10000"/>
          </a:bodyPr>
          <a:lstStyle/>
          <a:p>
            <a:pPr algn="l">
              <a:defRPr sz="2850" b="1">
                <a:solidFill>
                  <a:srgbClr val="D9B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D9B46C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51D777-7631-4D8B-A9DC-A52756AF173A}"/>
              </a:ext>
            </a:extLst>
          </p:cNvPr>
          <p:cNvSpPr>
            <a:spLocks noGrp="1"/>
          </p:cNvSpPr>
          <p:nvPr/>
        </p:nvSpPr>
        <p:spPr>
          <a:xfrm>
            <a:off x="971550" y="453748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来源类型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E25B4AD8-B889-4FA5-A2AB-1B0BDCE8AA52}"/>
              </a:ext>
            </a:extLst>
          </p:cNvPr>
          <p:cNvSpPr>
            <a:spLocks noGrp="1"/>
          </p:cNvSpPr>
          <p:nvPr/>
        </p:nvSpPr>
        <p:spPr>
          <a:xfrm>
            <a:off x="3162300" y="3851680"/>
            <a:ext cx="20955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FA7010C-66B4-41C2-A231-5F8ACEC5C736}"/>
              </a:ext>
            </a:extLst>
          </p:cNvPr>
          <p:cNvSpPr>
            <a:spLocks noGrp="1"/>
          </p:cNvSpPr>
          <p:nvPr/>
        </p:nvSpPr>
        <p:spPr>
          <a:xfrm>
            <a:off x="3333750" y="4023130"/>
            <a:ext cx="17526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096" lnSpcReduction="10000"/>
          </a:bodyPr>
          <a:lstStyle/>
          <a:p>
            <a:pPr algn="l">
              <a:defRPr sz="2850" b="1">
                <a:solidFill>
                  <a:srgbClr val="B96B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B96B6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C27AA6-35F5-41F8-8710-BBC4CCEE36A3}"/>
              </a:ext>
            </a:extLst>
          </p:cNvPr>
          <p:cNvSpPr>
            <a:spLocks noGrp="1"/>
          </p:cNvSpPr>
          <p:nvPr/>
        </p:nvSpPr>
        <p:spPr>
          <a:xfrm>
            <a:off x="3333750" y="4537480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历史报告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F17699-604B-44BB-9A4B-8A5E935EE334}"/>
              </a:ext>
            </a:extLst>
          </p:cNvPr>
          <p:cNvSpPr>
            <a:spLocks noGrp="1"/>
          </p:cNvSpPr>
          <p:nvPr/>
        </p:nvSpPr>
        <p:spPr>
          <a:xfrm>
            <a:off x="933450" y="5657850"/>
            <a:ext cx="86868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8167"/>
          </a:bodyPr>
          <a:lstStyle/>
          <a:p>
            <a:pPr algn="l">
              <a:defRPr sz="1875" b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官方、新闻、Web、知乎、抖音、B站、微博、小红书都能作为证据来源进入报告。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CF4515E-A346-472F-97C0-BB34F024B699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青野 Verda · AI 竞品情报工作台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B033E9D-F7C4-417A-9152-E2877F6399FA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1962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r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团队答辩稿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63AF4139-3FD8-D9EE-6AF7-6D023737E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203" y="1825220"/>
            <a:ext cx="6156416" cy="34970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24591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C875F39-BC75-4448-8A74-4F55100ED929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9808" lnSpcReduction="10000"/>
          </a:bodyPr>
          <a:lstStyle/>
          <a:p>
            <a:pPr algn="l">
              <a:def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833256D-6A61-49D2-93E2-46924A4524BC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青野 Verda · AI 竞品情报工作台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2DDD2D5-F39E-4719-9A80-3FDC8F54D5C7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1962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r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团队答辩稿</a:t>
            </a:r>
          </a:p>
        </p:txBody>
      </p:sp>
      <p:pic>
        <p:nvPicPr>
          <p:cNvPr id="3" name="图片 2" descr="产品系统总览架构">
            <a:extLst>
              <a:ext uri="{FF2B5EF4-FFF2-40B4-BE49-F238E27FC236}">
                <a16:creationId xmlns:a16="http://schemas.microsoft.com/office/drawing/2014/main" id="{477895A1-6D12-FD6D-57EA-14ACD4B91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154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96E8-0E1A-0A96-57E0-99D5300B5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DB87AEE-5EAF-1605-63E2-3FAB4EE32813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9808" lnSpcReduction="10000"/>
          </a:bodyPr>
          <a:lstStyle/>
          <a:p>
            <a:pPr algn="l">
              <a:def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DEC5002-99F4-A380-2C97-3020C809876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青野 Verda · AI 竞品情报工作台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F393A0-37A7-9366-2C71-3ACCA7F64AF3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1962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r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团队答辩稿</a:t>
            </a:r>
          </a:p>
        </p:txBody>
      </p:sp>
      <p:pic>
        <p:nvPicPr>
          <p:cNvPr id="4" name="图片 3" descr="Deep Research Agent 工作流">
            <a:extLst>
              <a:ext uri="{FF2B5EF4-FFF2-40B4-BE49-F238E27FC236}">
                <a16:creationId xmlns:a16="http://schemas.microsoft.com/office/drawing/2014/main" id="{31E74E3D-693B-91B3-15D8-13EA294E2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629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3E50D-EF20-D56D-3889-A54C34C70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607F075-8BF3-6979-3AD2-8E3A4F5C434C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9808" lnSpcReduction="10000"/>
          </a:bodyPr>
          <a:lstStyle/>
          <a:p>
            <a:pPr algn="l">
              <a:def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C3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6DE0379-6686-17B5-C4AF-8F4CD28C3A4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青野 Verda · AI 竞品情报工作台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2446D9-F7FE-8BA4-E33D-CC53FC502D16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1962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r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团队答辩稿</a:t>
            </a:r>
          </a:p>
        </p:txBody>
      </p:sp>
      <p:pic>
        <p:nvPicPr>
          <p:cNvPr id="3" name="图片 2" descr="数据流与资产沉淀架构">
            <a:extLst>
              <a:ext uri="{FF2B5EF4-FFF2-40B4-BE49-F238E27FC236}">
                <a16:creationId xmlns:a16="http://schemas.microsoft.com/office/drawing/2014/main" id="{7709BC81-F430-D0BA-0405-2FBF9F4B6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831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CDEF8-7737-3B6E-6082-7A2EA91BF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9864692F-DDB0-2222-6F92-AE316F943D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2"/>
          <a:stretch>
            <a:fillRect/>
          </a:stretch>
        </p:blipFill>
        <p:spPr>
          <a:xfrm>
            <a:off x="0" y="-1"/>
            <a:ext cx="12192001" cy="685800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9227D573-DC55-7DE2-6F97-0291A75CC503}"/>
              </a:ext>
            </a:extLst>
          </p:cNvPr>
          <p:cNvSpPr/>
          <p:nvPr/>
        </p:nvSpPr>
        <p:spPr>
          <a:xfrm>
            <a:off x="-1" y="-19050"/>
            <a:ext cx="9770533" cy="6877050"/>
          </a:xfrm>
          <a:prstGeom prst="rect">
            <a:avLst/>
          </a:prstGeom>
          <a:gradFill flip="none" rotWithShape="1">
            <a:gsLst>
              <a:gs pos="51000">
                <a:srgbClr val="F5F9F5"/>
              </a:gs>
              <a:gs pos="0">
                <a:srgbClr val="EAF2EB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79EAFC6-519E-4933-A73F-08A2F43091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2950" y="685800"/>
            <a:ext cx="685800" cy="685800"/>
          </a:xfrm>
          <a:prstGeom prst="roundRect">
            <a:avLst>
              <a:gd name="adj" fmla="val 22222"/>
            </a:avLst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4AE593F-8071-2DA8-3E93-95718C4EF42B}"/>
              </a:ext>
            </a:extLst>
          </p:cNvPr>
          <p:cNvSpPr>
            <a:spLocks noGrp="1"/>
          </p:cNvSpPr>
          <p:nvPr/>
        </p:nvSpPr>
        <p:spPr>
          <a:xfrm>
            <a:off x="742950" y="1733550"/>
            <a:ext cx="4953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152"/>
          </a:bodyPr>
          <a:lstStyle/>
          <a:p>
            <a:pPr algn="l">
              <a:defRPr sz="4275" b="1">
                <a:solidFill>
                  <a:srgbClr val="25312A"/>
                </a:solidFill>
                <a:latin typeface="Songti SC"/>
                <a:ea typeface="Songti SC"/>
                <a:cs typeface="Songti SC"/>
              </a:defRPr>
            </a:pPr>
            <a:r>
              <a:rPr sz="4275" b="1">
                <a:solidFill>
                  <a:srgbClr val="25312A"/>
                </a:solidFill>
                <a:latin typeface="Songti SC"/>
                <a:ea typeface="Songti SC"/>
                <a:cs typeface="Songti SC"/>
              </a:rPr>
              <a:t>青野 Verda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C1492E-3EE3-BC85-CF0B-570F0F5EAFB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4381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l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青野 Verda · AI 竞品情报工作台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AA9CD7-10EE-FE38-776C-CE9AD1DD0E81}"/>
              </a:ext>
            </a:extLst>
          </p:cNvPr>
          <p:cNvSpPr>
            <a:spLocks noGrp="1"/>
          </p:cNvSpPr>
          <p:nvPr/>
        </p:nvSpPr>
        <p:spPr>
          <a:xfrm>
            <a:off x="9620250" y="6477000"/>
            <a:ext cx="1962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20000"/>
          </a:bodyPr>
          <a:lstStyle/>
          <a:p>
            <a:pPr algn="r">
              <a:def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团队答辩稿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EEFB783-947B-6BC9-4C94-05C64E3DB9D9}"/>
              </a:ext>
            </a:extLst>
          </p:cNvPr>
          <p:cNvSpPr>
            <a:spLocks noGrp="1"/>
          </p:cNvSpPr>
          <p:nvPr/>
        </p:nvSpPr>
        <p:spPr>
          <a:xfrm>
            <a:off x="825874" y="2457450"/>
            <a:ext cx="3982347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235"/>
          </a:bodyPr>
          <a:lstStyle/>
          <a:p>
            <a:pPr algn="l">
              <a:defRPr sz="2250" b="0">
                <a:solidFill>
                  <a:srgbClr val="E7EF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 err="1">
                <a:solidFill>
                  <a:schemeClr val="accent6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从调研过程，到竞争情报中心，再到可信技术架构</a:t>
            </a:r>
            <a:endParaRPr sz="2000" b="1" dirty="0">
              <a:solidFill>
                <a:schemeClr val="accent6">
                  <a:lumMod val="5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2AB366-F0CC-AF93-23FA-580B9A3F6A74}"/>
              </a:ext>
            </a:extLst>
          </p:cNvPr>
          <p:cNvSpPr>
            <a:spLocks noGrp="1"/>
          </p:cNvSpPr>
          <p:nvPr/>
        </p:nvSpPr>
        <p:spPr>
          <a:xfrm>
            <a:off x="777703" y="5749999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825"/>
          </a:bodyPr>
          <a:lstStyle/>
          <a:p>
            <a:pPr algn="l">
              <a:defRPr sz="1575" b="1">
                <a:solidFill>
                  <a:srgbClr val="DDE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>
                <a:solidFill>
                  <a:srgbClr val="DDEED8"/>
                </a:solidFill>
                <a:latin typeface="Microsoft YaHei"/>
                <a:ea typeface="Microsoft YaHei"/>
                <a:cs typeface="Microsoft YaHei"/>
                <a:hlinkClick r:id="rId5"/>
              </a:rPr>
              <a:t>演示视频 · 源码仓库 · 前端 Demo</a:t>
            </a: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DC8D582F-021A-AD39-F161-E2130B93BD96}"/>
              </a:ext>
            </a:extLst>
          </p:cNvPr>
          <p:cNvSpPr>
            <a:spLocks noGrp="1"/>
          </p:cNvSpPr>
          <p:nvPr/>
        </p:nvSpPr>
        <p:spPr>
          <a:xfrm>
            <a:off x="857249" y="3339952"/>
            <a:ext cx="3248025" cy="609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B3197EC-C057-50B3-6664-D45BE872A255}"/>
              </a:ext>
            </a:extLst>
          </p:cNvPr>
          <p:cNvSpPr>
            <a:spLocks noGrp="1"/>
          </p:cNvSpPr>
          <p:nvPr/>
        </p:nvSpPr>
        <p:spPr>
          <a:xfrm>
            <a:off x="857250" y="3339952"/>
            <a:ext cx="45719" cy="609600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AC2FE7-B32E-CFA9-7408-2F458C3EAFF8}"/>
              </a:ext>
            </a:extLst>
          </p:cNvPr>
          <p:cNvSpPr>
            <a:spLocks noGrp="1"/>
          </p:cNvSpPr>
          <p:nvPr/>
        </p:nvSpPr>
        <p:spPr>
          <a:xfrm>
            <a:off x="936117" y="3419253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000" lnSpcReduction="20000"/>
          </a:bodyPr>
          <a:lstStyle/>
          <a:p>
            <a:pPr algn="l"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更准</a:t>
            </a:r>
            <a:endParaRPr sz="1500" b="1" dirty="0">
              <a:solidFill>
                <a:srgbClr val="2531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065B5C0-31C7-BADF-1778-023CFB8C4A3B}"/>
              </a:ext>
            </a:extLst>
          </p:cNvPr>
          <p:cNvSpPr>
            <a:spLocks noGrp="1"/>
          </p:cNvSpPr>
          <p:nvPr/>
        </p:nvSpPr>
        <p:spPr>
          <a:xfrm>
            <a:off x="923924" y="3613297"/>
            <a:ext cx="2832529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80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先确认产品、竞品、调研视角和深度。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DDA0252E-BFE4-2668-F161-453E00F601C8}"/>
              </a:ext>
            </a:extLst>
          </p:cNvPr>
          <p:cNvSpPr>
            <a:spLocks noGrp="1"/>
          </p:cNvSpPr>
          <p:nvPr/>
        </p:nvSpPr>
        <p:spPr>
          <a:xfrm>
            <a:off x="857249" y="4098851"/>
            <a:ext cx="3248025" cy="609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E01B62-4A7D-F752-3C89-7A6D2D064810}"/>
              </a:ext>
            </a:extLst>
          </p:cNvPr>
          <p:cNvSpPr>
            <a:spLocks noGrp="1"/>
          </p:cNvSpPr>
          <p:nvPr/>
        </p:nvSpPr>
        <p:spPr>
          <a:xfrm>
            <a:off x="857250" y="4098851"/>
            <a:ext cx="45719" cy="609600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AD4CE4-A530-D60A-0597-8D509D09C24B}"/>
              </a:ext>
            </a:extLst>
          </p:cNvPr>
          <p:cNvSpPr>
            <a:spLocks noGrp="1"/>
          </p:cNvSpPr>
          <p:nvPr/>
        </p:nvSpPr>
        <p:spPr>
          <a:xfrm>
            <a:off x="936117" y="4178152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000" lnSpcReduction="20000"/>
          </a:bodyPr>
          <a:lstStyle/>
          <a:p>
            <a:pPr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更厚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635BF94-B127-BEF5-B86A-99CCF9094825}"/>
              </a:ext>
            </a:extLst>
          </p:cNvPr>
          <p:cNvSpPr>
            <a:spLocks noGrp="1"/>
          </p:cNvSpPr>
          <p:nvPr/>
        </p:nvSpPr>
        <p:spPr>
          <a:xfrm>
            <a:off x="923925" y="4372196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10000"/>
          </a:bodyPr>
          <a:lstStyle/>
          <a:p>
            <a:pPr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证据、舆情、Trace 与报告持续沉淀。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89B0F047-8C6F-2B09-A134-FDA64E682C49}"/>
              </a:ext>
            </a:extLst>
          </p:cNvPr>
          <p:cNvSpPr>
            <a:spLocks noGrp="1"/>
          </p:cNvSpPr>
          <p:nvPr/>
        </p:nvSpPr>
        <p:spPr>
          <a:xfrm>
            <a:off x="833437" y="4902495"/>
            <a:ext cx="3248025" cy="609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DE5D7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D18272-50BE-4456-B36B-95006949C4B9}"/>
              </a:ext>
            </a:extLst>
          </p:cNvPr>
          <p:cNvSpPr>
            <a:spLocks noGrp="1"/>
          </p:cNvSpPr>
          <p:nvPr/>
        </p:nvSpPr>
        <p:spPr>
          <a:xfrm>
            <a:off x="857250" y="4886547"/>
            <a:ext cx="45719" cy="609600"/>
          </a:xfrm>
          <a:prstGeom prst="rect">
            <a:avLst/>
          </a:prstGeom>
          <a:solidFill>
            <a:srgbClr val="5F8A65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1C8114-0665-E5B8-5DFD-9ADF218CD914}"/>
              </a:ext>
            </a:extLst>
          </p:cNvPr>
          <p:cNvSpPr>
            <a:spLocks noGrp="1"/>
          </p:cNvSpPr>
          <p:nvPr/>
        </p:nvSpPr>
        <p:spPr>
          <a:xfrm>
            <a:off x="936117" y="4965848"/>
            <a:ext cx="2533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5000" lnSpcReduction="20000"/>
          </a:bodyPr>
          <a:lstStyle/>
          <a:p>
            <a:pPr>
              <a:defRPr sz="1500" b="1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25312A"/>
                </a:solidFill>
                <a:latin typeface="Microsoft YaHei"/>
                <a:ea typeface="Microsoft YaHei"/>
                <a:cs typeface="Microsoft YaHei"/>
              </a:rPr>
              <a:t>更可信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84EDA71-3B1F-DE76-D0EE-608CEA8911C2}"/>
              </a:ext>
            </a:extLst>
          </p:cNvPr>
          <p:cNvSpPr>
            <a:spLocks noGrp="1"/>
          </p:cNvSpPr>
          <p:nvPr/>
        </p:nvSpPr>
        <p:spPr>
          <a:xfrm>
            <a:off x="923925" y="5159892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000" lnSpcReduction="10000"/>
          </a:bodyPr>
          <a:lstStyle/>
          <a:p>
            <a:pPr>
              <a:defRPr sz="1275" b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75" dirty="0">
                <a:solidFill>
                  <a:srgbClr val="65705F"/>
                </a:solidFill>
                <a:latin typeface="Microsoft YaHei"/>
                <a:ea typeface="Microsoft YaHei"/>
                <a:cs typeface="Microsoft YaHei"/>
              </a:rPr>
              <a:t>结论绑定来源，质检可触发返工闭环。</a:t>
            </a:r>
          </a:p>
        </p:txBody>
      </p:sp>
    </p:spTree>
    <p:extLst>
      <p:ext uri="{BB962C8B-B14F-4D97-AF65-F5344CB8AC3E}">
        <p14:creationId xmlns:p14="http://schemas.microsoft.com/office/powerpoint/2010/main" val="24160864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1191</Words>
  <Application>Microsoft Macintosh PowerPoint</Application>
  <DocSecurity>0</DocSecurity>
  <PresentationFormat>宽屏</PresentationFormat>
  <Paragraphs>202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Microsoft YaHei</vt:lpstr>
      <vt:lpstr>Songti SC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44</cp:revision>
  <dcterms:created xsi:type="dcterms:W3CDTF">2026-06-24T02:20:29Z</dcterms:created>
  <dcterms:modified xsi:type="dcterms:W3CDTF">2026-06-24T07:57:44Z</dcterms:modified>
</cp:coreProperties>
</file>